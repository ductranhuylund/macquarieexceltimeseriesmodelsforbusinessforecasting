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Thiết kế theo màu xanh ngọc của ảnh nhận diện Boston Pharma người dùng cung cấp; không có bộ brand guideline hoặc file logo gốc trong gói tài liệu.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Nguồn: README và mã Python trong repository; tài liệu DOCX được cung cấp. Phương án email chưa có bằng chứng triển khai trong nguồn đầu vào.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 không tự Release/Save. PR bị khóa chờ mapping. Kiểm thử tự động hiện dùng mô phỏng COM; không thay thế UAT SAP Windows.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Luồng theo mã nguồn base_sap_workspace.py tại commit 705933d. PO từ tiêu đề là gợi ý văn bản; có trường hợp phải chọn hoặc nhập 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minh họa bằng shape, không chứa dữ liệu nghiệp vụ hoặc ảnh màn hình thật.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được capture từ WorkSessionDialog thực trong app, dùng test harness mô phỏng Base/SAP. Không phải ảnh SAP Windows trực tiếp. Tài liệu và sơ đồ gốc vẫn giữ nguyên phạm vi so sánh.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Ảnh chụp vùng hàng đợi của Window.left bằng QWidget.grab. Dữ liệu mẫu, API và browser mô phỏng. Bảng giữ đầy đủ nhiệm vụ; 3 dòng chỉ là vùng hiển thị mặc định.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ảnh widget thông tin của app; giá trị PO thực tế được giả lập, không phải đọc từ SAP trực tiếp.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DOCX nêu SCOT/SO28 và BAPI_PO_RELEASE. Cần đội SAP xác minh kênh inbound, release strategy và API phù hợp phiên bản; sơ đồ ở đây là kiến trúc logic.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có dữ liệu đo thời gian, chi phí hoặc tỷ lệ lỗi thực tế; không trình bày ưu thế định lượng chưa được đo.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DOCX dùng các diễn đạt “an toàn tuyệt đối”, không dump và chỉ một vết user sếp. Deck không xác nhận các điều đó khi chưa có mã, cấu hình và bằng chứng kiểm thử. Không hướng dẫn ghi thẳng EKKO/EKPO.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 kiểm soát email là đề xuất bổ sung, không phải toàn bộ đều có sẵn trong tài liệu. App hiện tại có kiểm tra PO, giữ hộp thoại lạ; chưa tự xác nhận cả hai hệ thống hoàn tất.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tiêu chí kiểm thử đề xuất, không phải kết quả thử nghiệm. Trạng thái “đã duyệt” phải đánh giá theo release code/cấp duyệt và phiên bản chứng từ liên quan.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PoC/UAT và trình tự là đề xuất; không phải kế hoạch cam kết. PR cần phân tích riêng vì chưa có mapping trong app và DOCX tập trung PO.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trình bày mức tiết kiệm, ngân sách hay SLA giả định. Cần thống nhất cách đo và ngưỡng đạt trước pilot.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Khuyến nghị dựa trên nhu cầu đã trao đổi: app phục vụ đối chiếu; email bổ sung kênh quyết định SAP. Hai kênh chỉ nên cùng vận hành sau kiểm thử concurrency và audit.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https://github.com/ductranhuylund/MacquarieExcelTimeSeriesModelsforBusinessForecasting/tree/main/base-sap-workspace . Tài liệu email là nguồn mô tả, không phải yêu cầu thực thi hoặc chứng cứ hệ thống đang hoạt động.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3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DFF2ED"/>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DFF2ED"/>
                </a:solidFill>
                <a:latin typeface="Arial"/>
              </a:rPr>
              <a:t>ĐỀ XUẤT GIẢI PHÁP</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FFFFFF"/>
                </a:solidFill>
                <a:latin typeface="Arial"/>
              </a:rPr>
              <a:t>Hai hướng tiếp cận.</a:t>
            </a:r>
          </a:p>
        </p:txBody>
      </p:sp>
      <p:sp>
        <p:nvSpPr>
          <p:cNvPr id="7" name="TextBox 6"/>
          <p:cNvSpPr txBox="1"/>
          <p:nvPr/>
        </p:nvSpPr>
        <p:spPr>
          <a:xfrm>
            <a:off x="508000" y="1473200"/>
            <a:ext cx="11252200" cy="571500"/>
          </a:xfrm>
          <a:prstGeom prst="rect">
            <a:avLst/>
          </a:prstGeom>
          <a:noFill/>
        </p:spPr>
        <p:txBody>
          <a:bodyPr wrap="none" lIns="0" rIns="0" tIns="0" bIns="0">
            <a:spAutoFit/>
          </a:bodyPr>
          <a:lstStyle/>
          <a:p>
            <a:pPr>
              <a:spcBef>
                <a:spcPts val="0"/>
              </a:spcBef>
              <a:spcAft>
                <a:spcPts val="0"/>
              </a:spcAft>
            </a:pPr>
            <a:r>
              <a:rPr sz="3000" b="1">
                <a:solidFill>
                  <a:srgbClr val="FFFFFF"/>
                </a:solidFill>
                <a:latin typeface="Arial"/>
              </a:rPr>
              <a:t>Một quyết định phê duyệt tin cậy.</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DFF2ED"/>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DFF2ED"/>
                </a:solidFill>
                <a:latin typeface="Arial"/>
              </a:rPr>
              <a:t>01</a:t>
            </a:r>
          </a:p>
        </p:txBody>
      </p:sp>
      <p:sp>
        <p:nvSpPr>
          <p:cNvPr id="10" name="TextBox 9"/>
          <p:cNvSpPr txBox="1"/>
          <p:nvPr/>
        </p:nvSpPr>
        <p:spPr>
          <a:xfrm>
            <a:off x="533400" y="2451100"/>
            <a:ext cx="8077200" cy="438150"/>
          </a:xfrm>
          <a:prstGeom prst="rect">
            <a:avLst/>
          </a:prstGeom>
          <a:noFill/>
        </p:spPr>
        <p:txBody>
          <a:bodyPr wrap="none" lIns="0" rIns="0" tIns="0" bIns="0">
            <a:spAutoFit/>
          </a:bodyPr>
          <a:lstStyle/>
          <a:p>
            <a:pPr>
              <a:spcBef>
                <a:spcPts val="0"/>
              </a:spcBef>
              <a:spcAft>
                <a:spcPts val="0"/>
              </a:spcAft>
            </a:pPr>
            <a:r>
              <a:rPr sz="2300" b="0">
                <a:solidFill>
                  <a:srgbClr val="FFFFFF"/>
                </a:solidFill>
                <a:latin typeface="Arial"/>
              </a:rPr>
              <a:t>Đối chiếu bằng Python</a:t>
            </a:r>
          </a:p>
        </p:txBody>
      </p:sp>
      <p:sp>
        <p:nvSpPr>
          <p:cNvPr id="11" name="TextBox 10"/>
          <p:cNvSpPr txBox="1"/>
          <p:nvPr/>
        </p:nvSpPr>
        <p:spPr>
          <a:xfrm>
            <a:off x="533400" y="2857500"/>
            <a:ext cx="8077200" cy="438150"/>
          </a:xfrm>
          <a:prstGeom prst="rect">
            <a:avLst/>
          </a:prstGeom>
          <a:noFill/>
        </p:spPr>
        <p:txBody>
          <a:bodyPr wrap="none" lIns="0" rIns="0" tIns="0" bIns="0">
            <a:spAutoFit/>
          </a:bodyPr>
          <a:lstStyle/>
          <a:p>
            <a:pPr>
              <a:spcBef>
                <a:spcPts val="0"/>
              </a:spcBef>
              <a:spcAft>
                <a:spcPts val="0"/>
              </a:spcAft>
            </a:pPr>
            <a:r>
              <a:rPr sz="2300" b="0">
                <a:solidFill>
                  <a:srgbClr val="FFFFFF"/>
                </a:solidFill>
                <a:latin typeface="Arial"/>
              </a:rPr>
              <a:t>hay phê duyệt qua Reply Email?</a:t>
            </a:r>
          </a:p>
        </p:txBody>
      </p:sp>
      <p:sp>
        <p:nvSpPr>
          <p:cNvPr id="12" name="Rounded Rectangle 11"/>
          <p:cNvSpPr/>
          <p:nvPr/>
        </p:nvSpPr>
        <p:spPr>
          <a:xfrm>
            <a:off x="533400" y="3784600"/>
            <a:ext cx="6858000" cy="10541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2000" y="3975100"/>
            <a:ext cx="6553200" cy="266700"/>
          </a:xfrm>
          <a:prstGeom prst="rect">
            <a:avLst/>
          </a:prstGeom>
          <a:noFill/>
        </p:spPr>
        <p:txBody>
          <a:bodyPr wrap="none" lIns="0" rIns="0" tIns="0" bIns="0">
            <a:spAutoFit/>
          </a:bodyPr>
          <a:lstStyle/>
          <a:p>
            <a:pPr>
              <a:spcBef>
                <a:spcPts val="0"/>
              </a:spcBef>
              <a:spcAft>
                <a:spcPts val="0"/>
              </a:spcAft>
            </a:pPr>
            <a:r>
              <a:rPr sz="1400" b="1">
                <a:solidFill>
                  <a:srgbClr val="FFFFFF"/>
                </a:solidFill>
                <a:latin typeface="Arial"/>
              </a:rPr>
              <a:t>PYTHON WORKSPACE × SAP EMAIL APPROVAL</a:t>
            </a:r>
          </a:p>
        </p:txBody>
      </p:sp>
      <p:sp>
        <p:nvSpPr>
          <p:cNvPr id="14" name="TextBox 13"/>
          <p:cNvSpPr txBox="1"/>
          <p:nvPr/>
        </p:nvSpPr>
        <p:spPr>
          <a:xfrm>
            <a:off x="762000" y="4368800"/>
            <a:ext cx="6553200" cy="228600"/>
          </a:xfrm>
          <a:prstGeom prst="rect">
            <a:avLst/>
          </a:prstGeom>
          <a:noFill/>
        </p:spPr>
        <p:txBody>
          <a:bodyPr wrap="none" lIns="0" rIns="0" tIns="0" bIns="0">
            <a:spAutoFit/>
          </a:bodyPr>
          <a:lstStyle/>
          <a:p>
            <a:pPr>
              <a:spcBef>
                <a:spcPts val="0"/>
              </a:spcBef>
              <a:spcAft>
                <a:spcPts val="0"/>
              </a:spcAft>
            </a:pPr>
            <a:r>
              <a:rPr sz="1200" b="0">
                <a:solidFill>
                  <a:srgbClr val="DFF2ED"/>
                </a:solidFill>
                <a:latin typeface="Arial"/>
              </a:rPr>
              <a:t>PO: F011 • F012 • F013 | PR: giai đoạn sau</a:t>
            </a:r>
          </a:p>
        </p:txBody>
      </p:sp>
      <p:sp>
        <p:nvSpPr>
          <p:cNvPr id="15" name="TextBox 14"/>
          <p:cNvSpPr txBox="1"/>
          <p:nvPr/>
        </p:nvSpPr>
        <p:spPr>
          <a:xfrm>
            <a:off x="8839200" y="2616200"/>
            <a:ext cx="965200" cy="457200"/>
          </a:xfrm>
          <a:prstGeom prst="rect">
            <a:avLst/>
          </a:prstGeom>
          <a:noFill/>
        </p:spPr>
        <p:txBody>
          <a:bodyPr wrap="none" lIns="0" rIns="0" tIns="0" bIns="0">
            <a:spAutoFit/>
          </a:bodyPr>
          <a:lstStyle/>
          <a:p>
            <a:pPr>
              <a:spcBef>
                <a:spcPts val="0"/>
              </a:spcBef>
              <a:spcAft>
                <a:spcPts val="0"/>
              </a:spcAft>
            </a:pPr>
            <a:r>
              <a:rPr sz="2400" b="1">
                <a:solidFill>
                  <a:srgbClr val="DFF2ED"/>
                </a:solidFill>
                <a:latin typeface="Arial"/>
              </a:rPr>
              <a:t>01</a:t>
            </a:r>
          </a:p>
        </p:txBody>
      </p:sp>
      <p:sp>
        <p:nvSpPr>
          <p:cNvPr id="16" name="TextBox 15"/>
          <p:cNvSpPr txBox="1"/>
          <p:nvPr/>
        </p:nvSpPr>
        <p:spPr>
          <a:xfrm>
            <a:off x="9423400" y="2679700"/>
            <a:ext cx="2298700" cy="285750"/>
          </a:xfrm>
          <a:prstGeom prst="rect">
            <a:avLst/>
          </a:prstGeom>
          <a:noFill/>
        </p:spPr>
        <p:txBody>
          <a:bodyPr wrap="none" lIns="0" rIns="0" tIns="0" bIns="0">
            <a:spAutoFit/>
          </a:bodyPr>
          <a:lstStyle/>
          <a:p>
            <a:pPr>
              <a:spcBef>
                <a:spcPts val="0"/>
              </a:spcBef>
              <a:spcAft>
                <a:spcPts val="0"/>
              </a:spcAft>
            </a:pPr>
            <a:r>
              <a:rPr sz="1500" b="0">
                <a:solidFill>
                  <a:srgbClr val="FFFFFF"/>
                </a:solidFill>
                <a:latin typeface="Arial"/>
              </a:rPr>
              <a:t>Đúng PO</a:t>
            </a:r>
          </a:p>
        </p:txBody>
      </p:sp>
      <p:sp>
        <p:nvSpPr>
          <p:cNvPr id="17" name="TextBox 16"/>
          <p:cNvSpPr txBox="1"/>
          <p:nvPr/>
        </p:nvSpPr>
        <p:spPr>
          <a:xfrm>
            <a:off x="8839200" y="3505200"/>
            <a:ext cx="965200" cy="457200"/>
          </a:xfrm>
          <a:prstGeom prst="rect">
            <a:avLst/>
          </a:prstGeom>
          <a:noFill/>
        </p:spPr>
        <p:txBody>
          <a:bodyPr wrap="none" lIns="0" rIns="0" tIns="0" bIns="0">
            <a:spAutoFit/>
          </a:bodyPr>
          <a:lstStyle/>
          <a:p>
            <a:pPr>
              <a:spcBef>
                <a:spcPts val="0"/>
              </a:spcBef>
              <a:spcAft>
                <a:spcPts val="0"/>
              </a:spcAft>
            </a:pPr>
            <a:r>
              <a:rPr sz="2400" b="1">
                <a:solidFill>
                  <a:srgbClr val="DFF2ED"/>
                </a:solidFill>
                <a:latin typeface="Arial"/>
              </a:rPr>
              <a:t>02</a:t>
            </a:r>
          </a:p>
        </p:txBody>
      </p:sp>
      <p:sp>
        <p:nvSpPr>
          <p:cNvPr id="18" name="TextBox 17"/>
          <p:cNvSpPr txBox="1"/>
          <p:nvPr/>
        </p:nvSpPr>
        <p:spPr>
          <a:xfrm>
            <a:off x="9423400" y="3568700"/>
            <a:ext cx="2298700" cy="285750"/>
          </a:xfrm>
          <a:prstGeom prst="rect">
            <a:avLst/>
          </a:prstGeom>
          <a:noFill/>
        </p:spPr>
        <p:txBody>
          <a:bodyPr wrap="none" lIns="0" rIns="0" tIns="0" bIns="0">
            <a:spAutoFit/>
          </a:bodyPr>
          <a:lstStyle/>
          <a:p>
            <a:pPr>
              <a:spcBef>
                <a:spcPts val="0"/>
              </a:spcBef>
              <a:spcAft>
                <a:spcPts val="0"/>
              </a:spcAft>
            </a:pPr>
            <a:r>
              <a:rPr sz="1500" b="0">
                <a:solidFill>
                  <a:srgbClr val="FFFFFF"/>
                </a:solidFill>
                <a:latin typeface="Arial"/>
              </a:rPr>
              <a:t>Đúng thẩm quyền</a:t>
            </a:r>
          </a:p>
        </p:txBody>
      </p:sp>
      <p:sp>
        <p:nvSpPr>
          <p:cNvPr id="19" name="TextBox 18"/>
          <p:cNvSpPr txBox="1"/>
          <p:nvPr/>
        </p:nvSpPr>
        <p:spPr>
          <a:xfrm>
            <a:off x="8839200" y="4394200"/>
            <a:ext cx="965200" cy="457200"/>
          </a:xfrm>
          <a:prstGeom prst="rect">
            <a:avLst/>
          </a:prstGeom>
          <a:noFill/>
        </p:spPr>
        <p:txBody>
          <a:bodyPr wrap="none" lIns="0" rIns="0" tIns="0" bIns="0">
            <a:spAutoFit/>
          </a:bodyPr>
          <a:lstStyle/>
          <a:p>
            <a:pPr>
              <a:spcBef>
                <a:spcPts val="0"/>
              </a:spcBef>
              <a:spcAft>
                <a:spcPts val="0"/>
              </a:spcAft>
            </a:pPr>
            <a:r>
              <a:rPr sz="2400" b="1">
                <a:solidFill>
                  <a:srgbClr val="DFF2ED"/>
                </a:solidFill>
                <a:latin typeface="Arial"/>
              </a:rPr>
              <a:t>03</a:t>
            </a:r>
          </a:p>
        </p:txBody>
      </p:sp>
      <p:sp>
        <p:nvSpPr>
          <p:cNvPr id="20" name="TextBox 19"/>
          <p:cNvSpPr txBox="1"/>
          <p:nvPr/>
        </p:nvSpPr>
        <p:spPr>
          <a:xfrm>
            <a:off x="9423400" y="4457700"/>
            <a:ext cx="2298700" cy="285750"/>
          </a:xfrm>
          <a:prstGeom prst="rect">
            <a:avLst/>
          </a:prstGeom>
          <a:noFill/>
        </p:spPr>
        <p:txBody>
          <a:bodyPr wrap="none" lIns="0" rIns="0" tIns="0" bIns="0">
            <a:spAutoFit/>
          </a:bodyPr>
          <a:lstStyle/>
          <a:p>
            <a:pPr>
              <a:spcBef>
                <a:spcPts val="0"/>
              </a:spcBef>
              <a:spcAft>
                <a:spcPts val="0"/>
              </a:spcAft>
            </a:pPr>
            <a:r>
              <a:rPr sz="1500" b="0">
                <a:solidFill>
                  <a:srgbClr val="FFFFFF"/>
                </a:solidFill>
                <a:latin typeface="Arial"/>
              </a:rPr>
              <a:t>Đúng dấu vết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01 / KẾT LUẬN ĐIỀU HÀNH</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Hai phương án giải quyết hai nhu cầu khác nhau</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Cần chọn theo cách làm việc của người duyệt và phạm vi tích hợp mong muốn.</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02</a:t>
            </a:r>
          </a:p>
        </p:txBody>
      </p:sp>
      <p:sp>
        <p:nvSpPr>
          <p:cNvPr id="10" name="Rounded Rectangle 9"/>
          <p:cNvSpPr/>
          <p:nvPr/>
        </p:nvSpPr>
        <p:spPr>
          <a:xfrm>
            <a:off x="508000" y="2209800"/>
            <a:ext cx="5435600" cy="3035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8000" y="2209800"/>
            <a:ext cx="50800" cy="30353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600" y="2425700"/>
            <a:ext cx="50546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PYTHON • ĐÃ CÓ MÃ NGUỒN</a:t>
            </a:r>
          </a:p>
        </p:txBody>
      </p:sp>
      <p:sp>
        <p:nvSpPr>
          <p:cNvPr id="13" name="TextBox 12"/>
          <p:cNvSpPr txBox="1"/>
          <p:nvPr/>
        </p:nvSpPr>
        <p:spPr>
          <a:xfrm>
            <a:off x="736600" y="2743200"/>
            <a:ext cx="50546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Đối chiếu trên một màn hình</a:t>
            </a:r>
          </a:p>
        </p:txBody>
      </p:sp>
      <p:sp>
        <p:nvSpPr>
          <p:cNvPr id="14" name="TextBox 13"/>
          <p:cNvSpPr txBox="1"/>
          <p:nvPr/>
        </p:nvSpPr>
        <p:spPr>
          <a:xfrm>
            <a:off x="736600" y="32512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Dành cho người cần xem Base và SAP cạnh nhau, kiểm</a:t>
            </a:r>
          </a:p>
        </p:txBody>
      </p:sp>
      <p:sp>
        <p:nvSpPr>
          <p:cNvPr id="15" name="TextBox 14"/>
          <p:cNvSpPr txBox="1"/>
          <p:nvPr/>
        </p:nvSpPr>
        <p:spPr>
          <a:xfrm>
            <a:off x="736600" y="35179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tra chi tiết PO rồi duyệt thủ công trên từng hệ thống.</a:t>
            </a:r>
          </a:p>
        </p:txBody>
      </p:sp>
      <p:sp>
        <p:nvSpPr>
          <p:cNvPr id="16" name="Rounded Rectangle 15"/>
          <p:cNvSpPr/>
          <p:nvPr/>
        </p:nvSpPr>
        <p:spPr>
          <a:xfrm>
            <a:off x="6197600" y="2209800"/>
            <a:ext cx="5486400" cy="3035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7600" y="2209800"/>
            <a:ext cx="50800" cy="3035300"/>
          </a:xfrm>
          <a:prstGeom prst="rect">
            <a:avLst/>
          </a:prstGeom>
          <a:solidFill>
            <a:srgbClr val="C89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6200" y="2425700"/>
            <a:ext cx="5105400" cy="190500"/>
          </a:xfrm>
          <a:prstGeom prst="rect">
            <a:avLst/>
          </a:prstGeom>
          <a:noFill/>
        </p:spPr>
        <p:txBody>
          <a:bodyPr wrap="none" lIns="0" rIns="0" tIns="0" bIns="0">
            <a:spAutoFit/>
          </a:bodyPr>
          <a:lstStyle/>
          <a:p>
            <a:pPr>
              <a:spcBef>
                <a:spcPts val="0"/>
              </a:spcBef>
              <a:spcAft>
                <a:spcPts val="0"/>
              </a:spcAft>
            </a:pPr>
            <a:r>
              <a:rPr sz="1000" b="1">
                <a:solidFill>
                  <a:srgbClr val="C89340"/>
                </a:solidFill>
                <a:latin typeface="Arial"/>
              </a:rPr>
              <a:t>EMAIL • THIẾT KẾ ĐỀ XUẤT</a:t>
            </a:r>
          </a:p>
        </p:txBody>
      </p:sp>
      <p:sp>
        <p:nvSpPr>
          <p:cNvPr id="19" name="TextBox 18"/>
          <p:cNvSpPr txBox="1"/>
          <p:nvPr/>
        </p:nvSpPr>
        <p:spPr>
          <a:xfrm>
            <a:off x="6426200" y="27432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Duyệt từ hộp thư</a:t>
            </a:r>
          </a:p>
        </p:txBody>
      </p:sp>
      <p:sp>
        <p:nvSpPr>
          <p:cNvPr id="20" name="TextBox 19"/>
          <p:cNvSpPr txBox="1"/>
          <p:nvPr/>
        </p:nvSpPr>
        <p:spPr>
          <a:xfrm>
            <a:off x="6426200" y="32512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Dành cho người cần phản hồi từ điện thoại hoặc máy</a:t>
            </a:r>
          </a:p>
        </p:txBody>
      </p:sp>
      <p:sp>
        <p:nvSpPr>
          <p:cNvPr id="21" name="TextBox 20"/>
          <p:cNvSpPr txBox="1"/>
          <p:nvPr/>
        </p:nvSpPr>
        <p:spPr>
          <a:xfrm>
            <a:off x="6426200" y="35179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tính; backend SAP xác thực và thực thi quyết định.</a:t>
            </a:r>
          </a:p>
        </p:txBody>
      </p:sp>
      <p:sp>
        <p:nvSpPr>
          <p:cNvPr id="22" name="Rounded Rectangle 21"/>
          <p:cNvSpPr/>
          <p:nvPr/>
        </p:nvSpPr>
        <p:spPr>
          <a:xfrm>
            <a:off x="508000" y="5816600"/>
            <a:ext cx="11176000" cy="4445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918200"/>
            <a:ext cx="10871200" cy="209550"/>
          </a:xfrm>
          <a:prstGeom prst="rect">
            <a:avLst/>
          </a:prstGeom>
          <a:noFill/>
        </p:spPr>
        <p:txBody>
          <a:bodyPr wrap="none" lIns="0" rIns="0" tIns="0" bIns="0">
            <a:spAutoFit/>
          </a:bodyPr>
          <a:lstStyle/>
          <a:p>
            <a:pPr>
              <a:spcBef>
                <a:spcPts val="0"/>
              </a:spcBef>
              <a:spcAft>
                <a:spcPts val="0"/>
              </a:spcAft>
            </a:pPr>
            <a:r>
              <a:rPr sz="1100" b="1">
                <a:solidFill>
                  <a:srgbClr val="087F78"/>
                </a:solidFill>
                <a:latin typeface="Arial"/>
              </a:rPr>
              <a:t>Khuyến nghị: hoàn thiện đối chiếu hiện tại; thử nghiệm email ở phạm vi hẹp trước khi mở rộng.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02 / PHẠM VI THỰC TẾ</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Phân biệt phần đang có và phần cần xây</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Không coi bản mô tả luồng email là tính năng đã sẵn sàng vận hành.</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03</a:t>
            </a:r>
          </a:p>
        </p:txBody>
      </p:sp>
      <p:sp>
        <p:nvSpPr>
          <p:cNvPr id="10" name="Rounded Rectangle 9"/>
          <p:cNvSpPr/>
          <p:nvPr/>
        </p:nvSpPr>
        <p:spPr>
          <a:xfrm>
            <a:off x="508000" y="2222500"/>
            <a:ext cx="5435600" cy="3365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8000" y="2222500"/>
            <a:ext cx="50800" cy="33655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600" y="2438400"/>
            <a:ext cx="50546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HIỆN TẠI</a:t>
            </a:r>
          </a:p>
        </p:txBody>
      </p:sp>
      <p:sp>
        <p:nvSpPr>
          <p:cNvPr id="13" name="TextBox 12"/>
          <p:cNvSpPr txBox="1"/>
          <p:nvPr/>
        </p:nvSpPr>
        <p:spPr>
          <a:xfrm>
            <a:off x="736600" y="2755900"/>
            <a:ext cx="50546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Python Workspace</a:t>
            </a:r>
          </a:p>
        </p:txBody>
      </p:sp>
      <p:sp>
        <p:nvSpPr>
          <p:cNvPr id="14" name="TextBox 13"/>
          <p:cNvSpPr txBox="1"/>
          <p:nvPr/>
        </p:nvSpPr>
        <p:spPr>
          <a:xfrm>
            <a:off x="736600" y="32639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 Base API: danh sách F011 / F012 / F013, lọc trạng</a:t>
            </a:r>
          </a:p>
        </p:txBody>
      </p:sp>
      <p:sp>
        <p:nvSpPr>
          <p:cNvPr id="15" name="TextBox 14"/>
          <p:cNvSpPr txBox="1"/>
          <p:nvPr/>
        </p:nvSpPr>
        <p:spPr>
          <a:xfrm>
            <a:off x="736600" y="35306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thái và cache trong phiên.</a:t>
            </a:r>
          </a:p>
        </p:txBody>
      </p:sp>
      <p:sp>
        <p:nvSpPr>
          <p:cNvPr id="16" name="TextBox 15"/>
          <p:cNvSpPr txBox="1"/>
          <p:nvPr/>
        </p:nvSpPr>
        <p:spPr>
          <a:xfrm>
            <a:off x="736600" y="37973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 Website Base + SAP GUI nhúng.</a:t>
            </a:r>
          </a:p>
        </p:txBody>
      </p:sp>
      <p:sp>
        <p:nvSpPr>
          <p:cNvPr id="17" name="TextBox 16"/>
          <p:cNvSpPr txBox="1"/>
          <p:nvPr/>
        </p:nvSpPr>
        <p:spPr>
          <a:xfrm>
            <a:off x="736600" y="40640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 Tìm PO bằng ME29N; duyệt do người dùng thực hiện.</a:t>
            </a:r>
          </a:p>
        </p:txBody>
      </p:sp>
      <p:sp>
        <p:nvSpPr>
          <p:cNvPr id="18" name="Rounded Rectangle 17"/>
          <p:cNvSpPr/>
          <p:nvPr/>
        </p:nvSpPr>
        <p:spPr>
          <a:xfrm>
            <a:off x="6197600" y="2222500"/>
            <a:ext cx="5486400" cy="3365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97600" y="2222500"/>
            <a:ext cx="50800" cy="3365500"/>
          </a:xfrm>
          <a:prstGeom prst="rect">
            <a:avLst/>
          </a:prstGeom>
          <a:solidFill>
            <a:srgbClr val="C89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26200" y="2438400"/>
            <a:ext cx="5105400" cy="190500"/>
          </a:xfrm>
          <a:prstGeom prst="rect">
            <a:avLst/>
          </a:prstGeom>
          <a:noFill/>
        </p:spPr>
        <p:txBody>
          <a:bodyPr wrap="none" lIns="0" rIns="0" tIns="0" bIns="0">
            <a:spAutoFit/>
          </a:bodyPr>
          <a:lstStyle/>
          <a:p>
            <a:pPr>
              <a:spcBef>
                <a:spcPts val="0"/>
              </a:spcBef>
              <a:spcAft>
                <a:spcPts val="0"/>
              </a:spcAft>
            </a:pPr>
            <a:r>
              <a:rPr sz="1000" b="1">
                <a:solidFill>
                  <a:srgbClr val="C89340"/>
                </a:solidFill>
                <a:latin typeface="Arial"/>
              </a:rPr>
              <a:t>CẦN TRIỂN KHAI</a:t>
            </a:r>
          </a:p>
        </p:txBody>
      </p:sp>
      <p:sp>
        <p:nvSpPr>
          <p:cNvPr id="21" name="TextBox 20"/>
          <p:cNvSpPr txBox="1"/>
          <p:nvPr/>
        </p:nvSpPr>
        <p:spPr>
          <a:xfrm>
            <a:off x="6426200" y="27559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Reply Email</a:t>
            </a:r>
          </a:p>
        </p:txBody>
      </p:sp>
      <p:sp>
        <p:nvSpPr>
          <p:cNvPr id="22" name="TextBox 21"/>
          <p:cNvSpPr txBox="1"/>
          <p:nvPr/>
        </p:nvSpPr>
        <p:spPr>
          <a:xfrm>
            <a:off x="6426200" y="32639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 Trigger gửi thư, nhận và phân tích thư trả lời.</a:t>
            </a:r>
          </a:p>
        </p:txBody>
      </p:sp>
      <p:sp>
        <p:nvSpPr>
          <p:cNvPr id="23" name="TextBox 22"/>
          <p:cNvSpPr txBox="1"/>
          <p:nvPr/>
        </p:nvSpPr>
        <p:spPr>
          <a:xfrm>
            <a:off x="6426200" y="35306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 Xác thực, kiểm tra quyền và release code.</a:t>
            </a:r>
          </a:p>
        </p:txBody>
      </p:sp>
      <p:sp>
        <p:nvSpPr>
          <p:cNvPr id="24" name="TextBox 23"/>
          <p:cNvSpPr txBox="1"/>
          <p:nvPr/>
        </p:nvSpPr>
        <p:spPr>
          <a:xfrm>
            <a:off x="6426200" y="37973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 Thực thi SAP, phản hồi kết quả và lưu nhật ký.</a:t>
            </a:r>
          </a:p>
        </p:txBody>
      </p:sp>
      <p:sp>
        <p:nvSpPr>
          <p:cNvPr id="25" name="Rounded Rectangle 24"/>
          <p:cNvSpPr/>
          <p:nvPr/>
        </p:nvSpPr>
        <p:spPr>
          <a:xfrm>
            <a:off x="508000" y="5816600"/>
            <a:ext cx="11176000" cy="4445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5918200"/>
            <a:ext cx="10871200" cy="209550"/>
          </a:xfrm>
          <a:prstGeom prst="rect">
            <a:avLst/>
          </a:prstGeom>
          <a:noFill/>
        </p:spPr>
        <p:txBody>
          <a:bodyPr wrap="none" lIns="0" rIns="0" tIns="0" bIns="0">
            <a:spAutoFit/>
          </a:bodyPr>
          <a:lstStyle/>
          <a:p>
            <a:pPr>
              <a:spcBef>
                <a:spcPts val="0"/>
              </a:spcBef>
              <a:spcAft>
                <a:spcPts val="0"/>
              </a:spcAft>
            </a:pPr>
            <a:r>
              <a:rPr sz="1100" b="1">
                <a:solidFill>
                  <a:srgbClr val="087F78"/>
                </a:solidFill>
                <a:latin typeface="Arial"/>
              </a:rPr>
              <a:t>Python: SAP GUI còn cần UAT trên Windows. Email: chưa mô tả đồng bộ kết quả về Base.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03 / PHƯƠNG ÁN A</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Python: người duyệt kiểm soát hai hệ thống</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Đăng nhập SAP chỉ tạo phiên. Nút “Tìm nhiệm vụ SAP” mới mở ME29N và tìm PO.</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04</a:t>
            </a:r>
          </a:p>
        </p:txBody>
      </p:sp>
      <p:sp>
        <p:nvSpPr>
          <p:cNvPr id="10" name="Rounded Rectangle 9"/>
          <p:cNvSpPr/>
          <p:nvPr/>
        </p:nvSpPr>
        <p:spPr>
          <a:xfrm>
            <a:off x="5080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85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1</a:t>
            </a:r>
          </a:p>
        </p:txBody>
      </p:sp>
      <p:sp>
        <p:nvSpPr>
          <p:cNvPr id="13" name="TextBox 12"/>
          <p:cNvSpPr txBox="1"/>
          <p:nvPr/>
        </p:nvSpPr>
        <p:spPr>
          <a:xfrm>
            <a:off x="6985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Kết nối phiên</a:t>
            </a:r>
          </a:p>
        </p:txBody>
      </p:sp>
      <p:sp>
        <p:nvSpPr>
          <p:cNvPr id="14" name="TextBox 13"/>
          <p:cNvSpPr txBox="1"/>
          <p:nvPr/>
        </p:nvSpPr>
        <p:spPr>
          <a:xfrm>
            <a:off x="6985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Token API Base, website</a:t>
            </a:r>
          </a:p>
        </p:txBody>
      </p:sp>
      <p:sp>
        <p:nvSpPr>
          <p:cNvPr id="15" name="TextBox 14"/>
          <p:cNvSpPr txBox="1"/>
          <p:nvPr/>
        </p:nvSpPr>
        <p:spPr>
          <a:xfrm>
            <a:off x="6985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Base và đăng nhập SAP.</a:t>
            </a:r>
          </a:p>
        </p:txBody>
      </p:sp>
      <p:sp>
        <p:nvSpPr>
          <p:cNvPr id="16" name="TextBox 15"/>
          <p:cNvSpPr txBox="1"/>
          <p:nvPr/>
        </p:nvSpPr>
        <p:spPr>
          <a:xfrm>
            <a:off x="31496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17" name="Rounded Rectangle 16"/>
          <p:cNvSpPr/>
          <p:nvPr/>
        </p:nvSpPr>
        <p:spPr>
          <a:xfrm>
            <a:off x="33655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560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449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2</a:t>
            </a:r>
          </a:p>
        </p:txBody>
      </p:sp>
      <p:sp>
        <p:nvSpPr>
          <p:cNvPr id="20" name="TextBox 19"/>
          <p:cNvSpPr txBox="1"/>
          <p:nvPr/>
        </p:nvSpPr>
        <p:spPr>
          <a:xfrm>
            <a:off x="35560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Chọn job Base</a:t>
            </a:r>
          </a:p>
        </p:txBody>
      </p:sp>
      <p:sp>
        <p:nvSpPr>
          <p:cNvPr id="21" name="TextBox 20"/>
          <p:cNvSpPr txBox="1"/>
          <p:nvPr/>
        </p:nvSpPr>
        <p:spPr>
          <a:xfrm>
            <a:off x="35560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Chọn workflow và nhiệm vụ;</a:t>
            </a:r>
          </a:p>
        </p:txBody>
      </p:sp>
      <p:sp>
        <p:nvSpPr>
          <p:cNvPr id="22" name="TextBox 21"/>
          <p:cNvSpPr txBox="1"/>
          <p:nvPr/>
        </p:nvSpPr>
        <p:spPr>
          <a:xfrm>
            <a:off x="35560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lấy PO cần đối chiếu.</a:t>
            </a:r>
          </a:p>
        </p:txBody>
      </p:sp>
      <p:sp>
        <p:nvSpPr>
          <p:cNvPr id="23" name="TextBox 22"/>
          <p:cNvSpPr txBox="1"/>
          <p:nvPr/>
        </p:nvSpPr>
        <p:spPr>
          <a:xfrm>
            <a:off x="60071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24" name="Rounded Rectangle 23"/>
          <p:cNvSpPr/>
          <p:nvPr/>
        </p:nvSpPr>
        <p:spPr>
          <a:xfrm>
            <a:off x="62230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64135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024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3</a:t>
            </a:r>
          </a:p>
        </p:txBody>
      </p:sp>
      <p:sp>
        <p:nvSpPr>
          <p:cNvPr id="27" name="TextBox 26"/>
          <p:cNvSpPr txBox="1"/>
          <p:nvPr/>
        </p:nvSpPr>
        <p:spPr>
          <a:xfrm>
            <a:off x="64135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Tìm PO SAP</a:t>
            </a:r>
          </a:p>
        </p:txBody>
      </p:sp>
      <p:sp>
        <p:nvSpPr>
          <p:cNvPr id="28" name="TextBox 27"/>
          <p:cNvSpPr txBox="1"/>
          <p:nvPr/>
        </p:nvSpPr>
        <p:spPr>
          <a:xfrm>
            <a:off x="64135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Mở ME29N, điền PO và kiểm</a:t>
            </a:r>
          </a:p>
        </p:txBody>
      </p:sp>
      <p:sp>
        <p:nvSpPr>
          <p:cNvPr id="29" name="TextBox 28"/>
          <p:cNvSpPr txBox="1"/>
          <p:nvPr/>
        </p:nvSpPr>
        <p:spPr>
          <a:xfrm>
            <a:off x="64135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tra PO đang hiển thị.</a:t>
            </a:r>
          </a:p>
        </p:txBody>
      </p:sp>
      <p:sp>
        <p:nvSpPr>
          <p:cNvPr id="30" name="TextBox 29"/>
          <p:cNvSpPr txBox="1"/>
          <p:nvPr/>
        </p:nvSpPr>
        <p:spPr>
          <a:xfrm>
            <a:off x="88646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31" name="Rounded Rectangle 30"/>
          <p:cNvSpPr/>
          <p:nvPr/>
        </p:nvSpPr>
        <p:spPr>
          <a:xfrm>
            <a:off x="90805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710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599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4</a:t>
            </a:r>
          </a:p>
        </p:txBody>
      </p:sp>
      <p:sp>
        <p:nvSpPr>
          <p:cNvPr id="34" name="TextBox 33"/>
          <p:cNvSpPr txBox="1"/>
          <p:nvPr/>
        </p:nvSpPr>
        <p:spPr>
          <a:xfrm>
            <a:off x="92710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Duyệt &amp; tiếp</a:t>
            </a:r>
          </a:p>
        </p:txBody>
      </p:sp>
      <p:sp>
        <p:nvSpPr>
          <p:cNvPr id="35" name="TextBox 34"/>
          <p:cNvSpPr txBox="1"/>
          <p:nvPr/>
        </p:nvSpPr>
        <p:spPr>
          <a:xfrm>
            <a:off x="9271000" y="34163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theo</a:t>
            </a:r>
          </a:p>
        </p:txBody>
      </p:sp>
      <p:sp>
        <p:nvSpPr>
          <p:cNvPr id="36" name="TextBox 35"/>
          <p:cNvSpPr txBox="1"/>
          <p:nvPr/>
        </p:nvSpPr>
        <p:spPr>
          <a:xfrm>
            <a:off x="92710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Người dùng duyệt từng bên</a:t>
            </a:r>
          </a:p>
        </p:txBody>
      </p:sp>
      <p:sp>
        <p:nvSpPr>
          <p:cNvPr id="37" name="TextBox 36"/>
          <p:cNvSpPr txBox="1"/>
          <p:nvPr/>
        </p:nvSpPr>
        <p:spPr>
          <a:xfrm>
            <a:off x="92710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rồi chuyển nhiệm vụ.</a:t>
            </a:r>
          </a:p>
        </p:txBody>
      </p:sp>
      <p:sp>
        <p:nvSpPr>
          <p:cNvPr id="38" name="Rounded Rectangle 37"/>
          <p:cNvSpPr/>
          <p:nvPr/>
        </p:nvSpPr>
        <p:spPr>
          <a:xfrm>
            <a:off x="508000" y="5816600"/>
            <a:ext cx="11176000" cy="4445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5918200"/>
            <a:ext cx="10871200" cy="209550"/>
          </a:xfrm>
          <a:prstGeom prst="rect">
            <a:avLst/>
          </a:prstGeom>
          <a:noFill/>
        </p:spPr>
        <p:txBody>
          <a:bodyPr wrap="none" lIns="0" rIns="0" tIns="0" bIns="0">
            <a:spAutoFit/>
          </a:bodyPr>
          <a:lstStyle/>
          <a:p>
            <a:pPr>
              <a:spcBef>
                <a:spcPts val="0"/>
              </a:spcBef>
              <a:spcAft>
                <a:spcPts val="0"/>
              </a:spcAft>
            </a:pPr>
            <a:r>
              <a:rPr sz="1100" b="1">
                <a:solidFill>
                  <a:srgbClr val="087F78"/>
                </a:solidFill>
                <a:latin typeface="Arial"/>
              </a:rPr>
              <a:t>Không tự xác nhận cả hai bên đã duyệt. Đổi job Base không đồng nghĩa SAP đã đổi PO.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04 / TRẢI NGHIỆM A</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Một không gian đối chiếu cho người xử lý PO</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Minh họa thiết kế, không phải ảnh hệ thống trực tiếp.</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05</a:t>
            </a:r>
          </a:p>
        </p:txBody>
      </p:sp>
      <p:sp>
        <p:nvSpPr>
          <p:cNvPr id="10" name="Rounded Rectangle 9"/>
          <p:cNvSpPr/>
          <p:nvPr/>
        </p:nvSpPr>
        <p:spPr>
          <a:xfrm>
            <a:off x="508000" y="2235200"/>
            <a:ext cx="11176000" cy="3149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60400" y="2387600"/>
            <a:ext cx="4470400" cy="4318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2501900"/>
            <a:ext cx="4267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BASE / F011 F012 F013</a:t>
            </a:r>
          </a:p>
        </p:txBody>
      </p:sp>
      <p:sp>
        <p:nvSpPr>
          <p:cNvPr id="13" name="Rounded Rectangle 12"/>
          <p:cNvSpPr/>
          <p:nvPr/>
        </p:nvSpPr>
        <p:spPr>
          <a:xfrm>
            <a:off x="6985000" y="2387600"/>
            <a:ext cx="4546600" cy="4318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7400" y="2501900"/>
            <a:ext cx="4267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SAP / ME29N</a:t>
            </a:r>
          </a:p>
        </p:txBody>
      </p:sp>
      <p:sp>
        <p:nvSpPr>
          <p:cNvPr id="15" name="TextBox 14"/>
          <p:cNvSpPr txBox="1"/>
          <p:nvPr/>
        </p:nvSpPr>
        <p:spPr>
          <a:xfrm>
            <a:off x="863600" y="3098800"/>
            <a:ext cx="4114800" cy="285750"/>
          </a:xfrm>
          <a:prstGeom prst="rect">
            <a:avLst/>
          </a:prstGeom>
          <a:noFill/>
        </p:spPr>
        <p:txBody>
          <a:bodyPr wrap="none" lIns="0" rIns="0" tIns="0" bIns="0">
            <a:spAutoFit/>
          </a:bodyPr>
          <a:lstStyle/>
          <a:p>
            <a:pPr>
              <a:spcBef>
                <a:spcPts val="0"/>
              </a:spcBef>
              <a:spcAft>
                <a:spcPts val="0"/>
              </a:spcAft>
            </a:pPr>
            <a:r>
              <a:rPr sz="1500" b="1">
                <a:solidFill>
                  <a:srgbClr val="073E43"/>
                </a:solidFill>
                <a:latin typeface="Arial"/>
              </a:rPr>
              <a:t>Danh sách nhiệm vụ</a:t>
            </a:r>
          </a:p>
        </p:txBody>
      </p:sp>
      <p:sp>
        <p:nvSpPr>
          <p:cNvPr id="16" name="TextBox 15"/>
          <p:cNvSpPr txBox="1"/>
          <p:nvPr/>
        </p:nvSpPr>
        <p:spPr>
          <a:xfrm>
            <a:off x="863600" y="3543300"/>
            <a:ext cx="4114800" cy="247650"/>
          </a:xfrm>
          <a:prstGeom prst="rect">
            <a:avLst/>
          </a:prstGeom>
          <a:noFill/>
        </p:spPr>
        <p:txBody>
          <a:bodyPr wrap="none" lIns="0" rIns="0" tIns="0" bIns="0">
            <a:spAutoFit/>
          </a:bodyPr>
          <a:lstStyle/>
          <a:p>
            <a:pPr>
              <a:spcBef>
                <a:spcPts val="0"/>
              </a:spcBef>
              <a:spcAft>
                <a:spcPts val="0"/>
              </a:spcAft>
            </a:pPr>
            <a:r>
              <a:rPr sz="1300" b="0">
                <a:solidFill>
                  <a:srgbClr val="587371"/>
                </a:solidFill>
                <a:latin typeface="Arial"/>
              </a:rPr>
              <a:t>Job được chọn → PO yêu cầu</a:t>
            </a:r>
          </a:p>
        </p:txBody>
      </p:sp>
      <p:sp>
        <p:nvSpPr>
          <p:cNvPr id="17" name="TextBox 16"/>
          <p:cNvSpPr txBox="1"/>
          <p:nvPr/>
        </p:nvSpPr>
        <p:spPr>
          <a:xfrm>
            <a:off x="863600" y="3860800"/>
            <a:ext cx="4114800" cy="247650"/>
          </a:xfrm>
          <a:prstGeom prst="rect">
            <a:avLst/>
          </a:prstGeom>
          <a:noFill/>
        </p:spPr>
        <p:txBody>
          <a:bodyPr wrap="none" lIns="0" rIns="0" tIns="0" bIns="0">
            <a:spAutoFit/>
          </a:bodyPr>
          <a:lstStyle/>
          <a:p>
            <a:pPr>
              <a:spcBef>
                <a:spcPts val="0"/>
              </a:spcBef>
              <a:spcAft>
                <a:spcPts val="0"/>
              </a:spcAft>
            </a:pPr>
            <a:r>
              <a:rPr sz="1300" b="0">
                <a:solidFill>
                  <a:srgbClr val="587371"/>
                </a:solidFill>
                <a:latin typeface="Arial"/>
              </a:rPr>
              <a:t>Nội dung • tài liệu • trao đổi</a:t>
            </a:r>
          </a:p>
        </p:txBody>
      </p:sp>
      <p:sp>
        <p:nvSpPr>
          <p:cNvPr id="18" name="TextBox 17"/>
          <p:cNvSpPr txBox="1"/>
          <p:nvPr/>
        </p:nvSpPr>
        <p:spPr>
          <a:xfrm>
            <a:off x="863600" y="4178300"/>
            <a:ext cx="4114800" cy="247650"/>
          </a:xfrm>
          <a:prstGeom prst="rect">
            <a:avLst/>
          </a:prstGeom>
          <a:noFill/>
        </p:spPr>
        <p:txBody>
          <a:bodyPr wrap="none" lIns="0" rIns="0" tIns="0" bIns="0">
            <a:spAutoFit/>
          </a:bodyPr>
          <a:lstStyle/>
          <a:p>
            <a:pPr>
              <a:spcBef>
                <a:spcPts val="0"/>
              </a:spcBef>
              <a:spcAft>
                <a:spcPts val="0"/>
              </a:spcAft>
            </a:pPr>
            <a:r>
              <a:rPr sz="1300" b="0">
                <a:solidFill>
                  <a:srgbClr val="587371"/>
                </a:solidFill>
                <a:latin typeface="Arial"/>
              </a:rPr>
              <a:t>Duyệt trực tiếp trên website Base</a:t>
            </a:r>
          </a:p>
        </p:txBody>
      </p:sp>
      <p:sp>
        <p:nvSpPr>
          <p:cNvPr id="19" name="Rounded Rectangle 18"/>
          <p:cNvSpPr/>
          <p:nvPr/>
        </p:nvSpPr>
        <p:spPr>
          <a:xfrm>
            <a:off x="5295900" y="3378200"/>
            <a:ext cx="1511300" cy="7874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48300" y="3530600"/>
            <a:ext cx="1308100" cy="247650"/>
          </a:xfrm>
          <a:prstGeom prst="rect">
            <a:avLst/>
          </a:prstGeom>
          <a:noFill/>
        </p:spPr>
        <p:txBody>
          <a:bodyPr wrap="none" lIns="0" rIns="0" tIns="0" bIns="0">
            <a:spAutoFit/>
          </a:bodyPr>
          <a:lstStyle/>
          <a:p>
            <a:pPr>
              <a:spcBef>
                <a:spcPts val="0"/>
              </a:spcBef>
              <a:spcAft>
                <a:spcPts val="0"/>
              </a:spcAft>
            </a:pPr>
            <a:r>
              <a:rPr sz="1300" b="1">
                <a:solidFill>
                  <a:srgbClr val="FFFFFF"/>
                </a:solidFill>
                <a:latin typeface="Arial"/>
              </a:rPr>
              <a:t>Tìm PO</a:t>
            </a:r>
          </a:p>
        </p:txBody>
      </p:sp>
      <p:sp>
        <p:nvSpPr>
          <p:cNvPr id="21" name="TextBox 20"/>
          <p:cNvSpPr txBox="1"/>
          <p:nvPr/>
        </p:nvSpPr>
        <p:spPr>
          <a:xfrm>
            <a:off x="5448300" y="3797300"/>
            <a:ext cx="1308100" cy="247650"/>
          </a:xfrm>
          <a:prstGeom prst="rect">
            <a:avLst/>
          </a:prstGeom>
          <a:noFill/>
        </p:spPr>
        <p:txBody>
          <a:bodyPr wrap="none" lIns="0" rIns="0" tIns="0" bIns="0">
            <a:spAutoFit/>
          </a:bodyPr>
          <a:lstStyle/>
          <a:p>
            <a:pPr>
              <a:spcBef>
                <a:spcPts val="0"/>
              </a:spcBef>
              <a:spcAft>
                <a:spcPts val="0"/>
              </a:spcAft>
            </a:pPr>
            <a:r>
              <a:rPr sz="1300" b="1">
                <a:solidFill>
                  <a:srgbClr val="FFFFFF"/>
                </a:solidFill>
                <a:latin typeface="Arial"/>
              </a:rPr>
              <a:t>SAP →</a:t>
            </a:r>
          </a:p>
        </p:txBody>
      </p:sp>
      <p:sp>
        <p:nvSpPr>
          <p:cNvPr id="22" name="TextBox 21"/>
          <p:cNvSpPr txBox="1"/>
          <p:nvPr/>
        </p:nvSpPr>
        <p:spPr>
          <a:xfrm>
            <a:off x="7188200" y="3098800"/>
            <a:ext cx="4165600" cy="285750"/>
          </a:xfrm>
          <a:prstGeom prst="rect">
            <a:avLst/>
          </a:prstGeom>
          <a:noFill/>
        </p:spPr>
        <p:txBody>
          <a:bodyPr wrap="none" lIns="0" rIns="0" tIns="0" bIns="0">
            <a:spAutoFit/>
          </a:bodyPr>
          <a:lstStyle/>
          <a:p>
            <a:pPr>
              <a:spcBef>
                <a:spcPts val="0"/>
              </a:spcBef>
              <a:spcAft>
                <a:spcPts val="0"/>
              </a:spcAft>
            </a:pPr>
            <a:r>
              <a:rPr sz="1500" b="1">
                <a:solidFill>
                  <a:srgbClr val="073E43"/>
                </a:solidFill>
                <a:latin typeface="Arial"/>
              </a:rPr>
              <a:t>PO đang hiển thị</a:t>
            </a:r>
          </a:p>
        </p:txBody>
      </p:sp>
      <p:sp>
        <p:nvSpPr>
          <p:cNvPr id="23" name="TextBox 22"/>
          <p:cNvSpPr txBox="1"/>
          <p:nvPr/>
        </p:nvSpPr>
        <p:spPr>
          <a:xfrm>
            <a:off x="7188200" y="3543300"/>
            <a:ext cx="4165600" cy="247650"/>
          </a:xfrm>
          <a:prstGeom prst="rect">
            <a:avLst/>
          </a:prstGeom>
          <a:noFill/>
        </p:spPr>
        <p:txBody>
          <a:bodyPr wrap="none" lIns="0" rIns="0" tIns="0" bIns="0">
            <a:spAutoFit/>
          </a:bodyPr>
          <a:lstStyle/>
          <a:p>
            <a:pPr>
              <a:spcBef>
                <a:spcPts val="0"/>
              </a:spcBef>
              <a:spcAft>
                <a:spcPts val="0"/>
              </a:spcAft>
            </a:pPr>
            <a:r>
              <a:rPr sz="1300" b="0">
                <a:solidFill>
                  <a:srgbClr val="587371"/>
                </a:solidFill>
                <a:latin typeface="Arial"/>
              </a:rPr>
              <a:t>Nhà cung cấp • giá trị • điều khoản</a:t>
            </a:r>
          </a:p>
        </p:txBody>
      </p:sp>
      <p:sp>
        <p:nvSpPr>
          <p:cNvPr id="24" name="TextBox 23"/>
          <p:cNvSpPr txBox="1"/>
          <p:nvPr/>
        </p:nvSpPr>
        <p:spPr>
          <a:xfrm>
            <a:off x="7188200" y="3860800"/>
            <a:ext cx="4165600" cy="247650"/>
          </a:xfrm>
          <a:prstGeom prst="rect">
            <a:avLst/>
          </a:prstGeom>
          <a:noFill/>
        </p:spPr>
        <p:txBody>
          <a:bodyPr wrap="none" lIns="0" rIns="0" tIns="0" bIns="0">
            <a:spAutoFit/>
          </a:bodyPr>
          <a:lstStyle/>
          <a:p>
            <a:pPr>
              <a:spcBef>
                <a:spcPts val="0"/>
              </a:spcBef>
              <a:spcAft>
                <a:spcPts val="0"/>
              </a:spcAft>
            </a:pPr>
            <a:r>
              <a:rPr sz="1300" b="0">
                <a:solidFill>
                  <a:srgbClr val="587371"/>
                </a:solidFill>
                <a:latin typeface="Arial"/>
              </a:rPr>
              <a:t>Kiểm tra đúng PO trước khi duyệt</a:t>
            </a:r>
          </a:p>
        </p:txBody>
      </p:sp>
      <p:sp>
        <p:nvSpPr>
          <p:cNvPr id="25" name="TextBox 24"/>
          <p:cNvSpPr txBox="1"/>
          <p:nvPr/>
        </p:nvSpPr>
        <p:spPr>
          <a:xfrm>
            <a:off x="7188200" y="4178300"/>
            <a:ext cx="4165600" cy="247650"/>
          </a:xfrm>
          <a:prstGeom prst="rect">
            <a:avLst/>
          </a:prstGeom>
          <a:noFill/>
        </p:spPr>
        <p:txBody>
          <a:bodyPr wrap="none" lIns="0" rIns="0" tIns="0" bIns="0">
            <a:spAutoFit/>
          </a:bodyPr>
          <a:lstStyle/>
          <a:p>
            <a:pPr>
              <a:spcBef>
                <a:spcPts val="0"/>
              </a:spcBef>
              <a:spcAft>
                <a:spcPts val="0"/>
              </a:spcAft>
            </a:pPr>
            <a:r>
              <a:rPr sz="1300" b="0">
                <a:solidFill>
                  <a:srgbClr val="587371"/>
                </a:solidFill>
                <a:latin typeface="Arial"/>
              </a:rPr>
              <a:t>Duyệt trực tiếp trong SAP GUI</a:t>
            </a:r>
          </a:p>
        </p:txBody>
      </p:sp>
      <p:sp>
        <p:nvSpPr>
          <p:cNvPr id="26" name="Rounded Rectangle 25"/>
          <p:cNvSpPr/>
          <p:nvPr/>
        </p:nvSpPr>
        <p:spPr>
          <a:xfrm>
            <a:off x="508000" y="5816600"/>
            <a:ext cx="11176000" cy="4445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918200"/>
            <a:ext cx="10871200" cy="209550"/>
          </a:xfrm>
          <a:prstGeom prst="rect">
            <a:avLst/>
          </a:prstGeom>
          <a:noFill/>
        </p:spPr>
        <p:txBody>
          <a:bodyPr wrap="none" lIns="0" rIns="0" tIns="0" bIns="0">
            <a:spAutoFit/>
          </a:bodyPr>
          <a:lstStyle/>
          <a:p>
            <a:pPr>
              <a:spcBef>
                <a:spcPts val="0"/>
              </a:spcBef>
              <a:spcAft>
                <a:spcPts val="0"/>
              </a:spcAft>
            </a:pPr>
            <a:r>
              <a:rPr sz="1100" b="1">
                <a:solidFill>
                  <a:srgbClr val="087F78"/>
                </a:solidFill>
                <a:latin typeface="Arial"/>
              </a:rPr>
              <a:t>Điểm kiểm soát quan trọng: tách “PO yêu cầu” khỏi “PO thực tế đang hiển thị”.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ẢNH CHỤP APP / 01</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Bắt đầu phiên: kết nối trước, xử lý sau</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Ảnh chụp Qt app hiện tại; dữ liệu và dịch vụ được mô phỏng, không có kết nối SAP thật.</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06</a:t>
            </a:r>
          </a:p>
        </p:txBody>
      </p:sp>
      <p:pic>
        <p:nvPicPr>
          <p:cNvPr id="10" name="Picture 9" descr="04_session_start_demo.png"/>
          <p:cNvPicPr>
            <a:picLocks noChangeAspect="1"/>
          </p:cNvPicPr>
          <p:nvPr/>
        </p:nvPicPr>
        <p:blipFill>
          <a:blip r:embed="rId3"/>
          <a:stretch>
            <a:fillRect/>
          </a:stretch>
        </p:blipFill>
        <p:spPr>
          <a:xfrm>
            <a:off x="736600" y="2133600"/>
            <a:ext cx="4902200" cy="4013200"/>
          </a:xfrm>
          <a:prstGeom prst="rect">
            <a:avLst/>
          </a:prstGeom>
        </p:spPr>
      </p:pic>
      <p:sp>
        <p:nvSpPr>
          <p:cNvPr id="11" name="Rounded Rectangle 10"/>
          <p:cNvSpPr/>
          <p:nvPr/>
        </p:nvSpPr>
        <p:spPr>
          <a:xfrm>
            <a:off x="6070600" y="2209800"/>
            <a:ext cx="5613400" cy="15494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070600" y="2209800"/>
            <a:ext cx="50800" cy="15494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99200" y="2425700"/>
            <a:ext cx="52324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BASE</a:t>
            </a:r>
          </a:p>
        </p:txBody>
      </p:sp>
      <p:sp>
        <p:nvSpPr>
          <p:cNvPr id="14" name="TextBox 13"/>
          <p:cNvSpPr txBox="1"/>
          <p:nvPr/>
        </p:nvSpPr>
        <p:spPr>
          <a:xfrm>
            <a:off x="6299200" y="2743200"/>
            <a:ext cx="5232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Hai kết nối độc lập</a:t>
            </a:r>
          </a:p>
        </p:txBody>
      </p:sp>
      <p:sp>
        <p:nvSpPr>
          <p:cNvPr id="15" name="TextBox 14"/>
          <p:cNvSpPr txBox="1"/>
          <p:nvPr/>
        </p:nvSpPr>
        <p:spPr>
          <a:xfrm>
            <a:off x="6299200" y="3251200"/>
            <a:ext cx="5232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API lấy danh sách; website dùng để xem và duyệt. Token</a:t>
            </a:r>
          </a:p>
        </p:txBody>
      </p:sp>
      <p:sp>
        <p:nvSpPr>
          <p:cNvPr id="16" name="TextBox 15"/>
          <p:cNvSpPr txBox="1"/>
          <p:nvPr/>
        </p:nvSpPr>
        <p:spPr>
          <a:xfrm>
            <a:off x="6299200" y="3517900"/>
            <a:ext cx="5232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API không thay thế đăng nhập website.</a:t>
            </a:r>
          </a:p>
        </p:txBody>
      </p:sp>
      <p:sp>
        <p:nvSpPr>
          <p:cNvPr id="17" name="Rounded Rectangle 16"/>
          <p:cNvSpPr/>
          <p:nvPr/>
        </p:nvSpPr>
        <p:spPr>
          <a:xfrm>
            <a:off x="6070600" y="3937000"/>
            <a:ext cx="5613400" cy="1689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70600" y="3937000"/>
            <a:ext cx="50800" cy="16891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99200" y="4152900"/>
            <a:ext cx="52324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SAP</a:t>
            </a:r>
          </a:p>
        </p:txBody>
      </p:sp>
      <p:sp>
        <p:nvSpPr>
          <p:cNvPr id="20" name="TextBox 19"/>
          <p:cNvSpPr txBox="1"/>
          <p:nvPr/>
        </p:nvSpPr>
        <p:spPr>
          <a:xfrm>
            <a:off x="6299200" y="4470400"/>
            <a:ext cx="5232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Đăng nhập chưa mở ME29N</a:t>
            </a:r>
          </a:p>
        </p:txBody>
      </p:sp>
      <p:sp>
        <p:nvSpPr>
          <p:cNvPr id="21" name="TextBox 20"/>
          <p:cNvSpPr txBox="1"/>
          <p:nvPr/>
        </p:nvSpPr>
        <p:spPr>
          <a:xfrm>
            <a:off x="6299200" y="4978400"/>
            <a:ext cx="5232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Chỉ khi bấm “Tìm nhiệm vụ SAP”, app mới mở transaction</a:t>
            </a:r>
          </a:p>
        </p:txBody>
      </p:sp>
      <p:sp>
        <p:nvSpPr>
          <p:cNvPr id="22" name="TextBox 21"/>
          <p:cNvSpPr txBox="1"/>
          <p:nvPr/>
        </p:nvSpPr>
        <p:spPr>
          <a:xfrm>
            <a:off x="6299200" y="5245100"/>
            <a:ext cx="5232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và tìm PO của job đã chọn.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ẢNH CHỤP APP / 02</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Hàng đợi Base: chọn workflow và nhiệm vụ</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Ảnh chụp widget thật của app; mã PO và nội dung là dữ liệu mẫu.</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07</a:t>
            </a:r>
          </a:p>
        </p:txBody>
      </p:sp>
      <p:sp>
        <p:nvSpPr>
          <p:cNvPr id="10" name="Rounded Rectangle 9"/>
          <p:cNvSpPr/>
          <p:nvPr/>
        </p:nvSpPr>
        <p:spPr>
          <a:xfrm>
            <a:off x="508000" y="2209800"/>
            <a:ext cx="11176000" cy="39116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2_base_queue_demo.png"/>
          <p:cNvPicPr>
            <a:picLocks noChangeAspect="1"/>
          </p:cNvPicPr>
          <p:nvPr/>
        </p:nvPicPr>
        <p:blipFill>
          <a:blip r:embed="rId3"/>
          <a:stretch>
            <a:fillRect/>
          </a:stretch>
        </p:blipFill>
        <p:spPr>
          <a:xfrm>
            <a:off x="685800" y="2387600"/>
            <a:ext cx="7848600" cy="3276600"/>
          </a:xfrm>
          <a:prstGeom prst="rect">
            <a:avLst/>
          </a:prstGeom>
        </p:spPr>
      </p:pic>
      <p:sp>
        <p:nvSpPr>
          <p:cNvPr id="12" name="TextBox 11"/>
          <p:cNvSpPr txBox="1"/>
          <p:nvPr/>
        </p:nvSpPr>
        <p:spPr>
          <a:xfrm>
            <a:off x="8851900" y="2413000"/>
            <a:ext cx="261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01 / Chọn workflow</a:t>
            </a:r>
          </a:p>
        </p:txBody>
      </p:sp>
      <p:sp>
        <p:nvSpPr>
          <p:cNvPr id="13" name="TextBox 12"/>
          <p:cNvSpPr txBox="1"/>
          <p:nvPr/>
        </p:nvSpPr>
        <p:spPr>
          <a:xfrm>
            <a:off x="8851900" y="2794000"/>
            <a:ext cx="2552700" cy="209550"/>
          </a:xfrm>
          <a:prstGeom prst="rect">
            <a:avLst/>
          </a:prstGeom>
          <a:noFill/>
        </p:spPr>
        <p:txBody>
          <a:bodyPr wrap="none" lIns="0" rIns="0" tIns="0" bIns="0">
            <a:spAutoFit/>
          </a:bodyPr>
          <a:lstStyle/>
          <a:p>
            <a:pPr>
              <a:spcBef>
                <a:spcPts val="0"/>
              </a:spcBef>
              <a:spcAft>
                <a:spcPts val="0"/>
              </a:spcAft>
            </a:pPr>
            <a:r>
              <a:rPr sz="1100" b="0">
                <a:solidFill>
                  <a:srgbClr val="587371"/>
                </a:solidFill>
                <a:latin typeface="Arial"/>
              </a:rPr>
              <a:t>F011 / F012 / F013</a:t>
            </a:r>
          </a:p>
        </p:txBody>
      </p:sp>
      <p:sp>
        <p:nvSpPr>
          <p:cNvPr id="14" name="TextBox 13"/>
          <p:cNvSpPr txBox="1"/>
          <p:nvPr/>
        </p:nvSpPr>
        <p:spPr>
          <a:xfrm>
            <a:off x="8851900" y="3517900"/>
            <a:ext cx="261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02 / Lọc và tìm kiếm</a:t>
            </a:r>
          </a:p>
        </p:txBody>
      </p:sp>
      <p:sp>
        <p:nvSpPr>
          <p:cNvPr id="15" name="TextBox 14"/>
          <p:cNvSpPr txBox="1"/>
          <p:nvPr/>
        </p:nvSpPr>
        <p:spPr>
          <a:xfrm>
            <a:off x="8851900" y="3898900"/>
            <a:ext cx="2552700" cy="209550"/>
          </a:xfrm>
          <a:prstGeom prst="rect">
            <a:avLst/>
          </a:prstGeom>
          <a:noFill/>
        </p:spPr>
        <p:txBody>
          <a:bodyPr wrap="none" lIns="0" rIns="0" tIns="0" bIns="0">
            <a:spAutoFit/>
          </a:bodyPr>
          <a:lstStyle/>
          <a:p>
            <a:pPr>
              <a:spcBef>
                <a:spcPts val="0"/>
              </a:spcBef>
              <a:spcAft>
                <a:spcPts val="0"/>
              </a:spcAft>
            </a:pPr>
            <a:r>
              <a:rPr sz="1100" b="0">
                <a:solidFill>
                  <a:srgbClr val="587371"/>
                </a:solidFill>
                <a:latin typeface="Arial"/>
              </a:rPr>
              <a:t>Theo trạng thái, mã job, PO hoặc</a:t>
            </a:r>
          </a:p>
        </p:txBody>
      </p:sp>
      <p:sp>
        <p:nvSpPr>
          <p:cNvPr id="16" name="TextBox 15"/>
          <p:cNvSpPr txBox="1"/>
          <p:nvPr/>
        </p:nvSpPr>
        <p:spPr>
          <a:xfrm>
            <a:off x="8851900" y="4114800"/>
            <a:ext cx="2552700" cy="209550"/>
          </a:xfrm>
          <a:prstGeom prst="rect">
            <a:avLst/>
          </a:prstGeom>
          <a:noFill/>
        </p:spPr>
        <p:txBody>
          <a:bodyPr wrap="none" lIns="0" rIns="0" tIns="0" bIns="0">
            <a:spAutoFit/>
          </a:bodyPr>
          <a:lstStyle/>
          <a:p>
            <a:pPr>
              <a:spcBef>
                <a:spcPts val="0"/>
              </a:spcBef>
              <a:spcAft>
                <a:spcPts val="0"/>
              </a:spcAft>
            </a:pPr>
            <a:r>
              <a:rPr sz="1100" b="0">
                <a:solidFill>
                  <a:srgbClr val="587371"/>
                </a:solidFill>
                <a:latin typeface="Arial"/>
              </a:rPr>
              <a:t>tiêu đề.</a:t>
            </a:r>
          </a:p>
        </p:txBody>
      </p:sp>
      <p:sp>
        <p:nvSpPr>
          <p:cNvPr id="17" name="TextBox 16"/>
          <p:cNvSpPr txBox="1"/>
          <p:nvPr/>
        </p:nvSpPr>
        <p:spPr>
          <a:xfrm>
            <a:off x="8851900" y="4775200"/>
            <a:ext cx="261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03 / Chuyển nhiệm vụ</a:t>
            </a:r>
          </a:p>
        </p:txBody>
      </p:sp>
      <p:sp>
        <p:nvSpPr>
          <p:cNvPr id="18" name="TextBox 17"/>
          <p:cNvSpPr txBox="1"/>
          <p:nvPr/>
        </p:nvSpPr>
        <p:spPr>
          <a:xfrm>
            <a:off x="8851900" y="5156200"/>
            <a:ext cx="2552700" cy="209550"/>
          </a:xfrm>
          <a:prstGeom prst="rect">
            <a:avLst/>
          </a:prstGeom>
          <a:noFill/>
        </p:spPr>
        <p:txBody>
          <a:bodyPr wrap="none" lIns="0" rIns="0" tIns="0" bIns="0">
            <a:spAutoFit/>
          </a:bodyPr>
          <a:lstStyle/>
          <a:p>
            <a:pPr>
              <a:spcBef>
                <a:spcPts val="0"/>
              </a:spcBef>
              <a:spcAft>
                <a:spcPts val="0"/>
              </a:spcAft>
            </a:pPr>
            <a:r>
              <a:rPr sz="1100" b="0">
                <a:solidFill>
                  <a:srgbClr val="587371"/>
                </a:solidFill>
                <a:latin typeface="Arial"/>
              </a:rPr>
              <a:t>Chọn dòng hoặc dùng Trước / Tiếp</a:t>
            </a:r>
          </a:p>
        </p:txBody>
      </p:sp>
      <p:sp>
        <p:nvSpPr>
          <p:cNvPr id="19" name="TextBox 18"/>
          <p:cNvSpPr txBox="1"/>
          <p:nvPr/>
        </p:nvSpPr>
        <p:spPr>
          <a:xfrm>
            <a:off x="8851900" y="5372100"/>
            <a:ext cx="2552700" cy="209550"/>
          </a:xfrm>
          <a:prstGeom prst="rect">
            <a:avLst/>
          </a:prstGeom>
          <a:noFill/>
        </p:spPr>
        <p:txBody>
          <a:bodyPr wrap="none" lIns="0" rIns="0" tIns="0" bIns="0">
            <a:spAutoFit/>
          </a:bodyPr>
          <a:lstStyle/>
          <a:p>
            <a:pPr>
              <a:spcBef>
                <a:spcPts val="0"/>
              </a:spcBef>
              <a:spcAft>
                <a:spcPts val="0"/>
              </a:spcAft>
            </a:pPr>
            <a:r>
              <a:rPr sz="1100" b="0">
                <a:solidFill>
                  <a:srgbClr val="587371"/>
                </a:solidFill>
                <a:latin typeface="Arial"/>
              </a:rPr>
              <a:t>theo.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ẢNH CHỤP APP / 03</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Đối chiếu PO yêu cầu với PO đang hiển thị</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Ảnh chụp phần thông tin đối chiếu; ví dụ trùng PO được mô phỏng để giải thích giao diện.</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08</a:t>
            </a:r>
          </a:p>
        </p:txBody>
      </p:sp>
      <p:sp>
        <p:nvSpPr>
          <p:cNvPr id="10" name="Rounded Rectangle 9"/>
          <p:cNvSpPr/>
          <p:nvPr/>
        </p:nvSpPr>
        <p:spPr>
          <a:xfrm>
            <a:off x="508000" y="2197100"/>
            <a:ext cx="11176000" cy="29083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3_sap_match_demo.png"/>
          <p:cNvPicPr>
            <a:picLocks noChangeAspect="1"/>
          </p:cNvPicPr>
          <p:nvPr/>
        </p:nvPicPr>
        <p:blipFill>
          <a:blip r:embed="rId3"/>
          <a:stretch>
            <a:fillRect/>
          </a:stretch>
        </p:blipFill>
        <p:spPr>
          <a:xfrm>
            <a:off x="698500" y="2324100"/>
            <a:ext cx="10795000" cy="2628900"/>
          </a:xfrm>
          <a:prstGeom prst="rect">
            <a:avLst/>
          </a:prstGeom>
        </p:spPr>
      </p:pic>
      <p:sp>
        <p:nvSpPr>
          <p:cNvPr id="12" name="Rounded Rectangle 11"/>
          <p:cNvSpPr/>
          <p:nvPr/>
        </p:nvSpPr>
        <p:spPr>
          <a:xfrm>
            <a:off x="508000" y="5308600"/>
            <a:ext cx="5448300" cy="8890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8500" y="5448300"/>
            <a:ext cx="5156200" cy="266700"/>
          </a:xfrm>
          <a:prstGeom prst="rect">
            <a:avLst/>
          </a:prstGeom>
          <a:noFill/>
        </p:spPr>
        <p:txBody>
          <a:bodyPr wrap="none" lIns="0" rIns="0" tIns="0" bIns="0">
            <a:spAutoFit/>
          </a:bodyPr>
          <a:lstStyle/>
          <a:p>
            <a:pPr>
              <a:spcBef>
                <a:spcPts val="0"/>
              </a:spcBef>
              <a:spcAft>
                <a:spcPts val="0"/>
              </a:spcAft>
            </a:pPr>
            <a:r>
              <a:rPr sz="1400" b="1">
                <a:solidFill>
                  <a:srgbClr val="087F78"/>
                </a:solidFill>
                <a:latin typeface="Arial"/>
              </a:rPr>
              <a:t>PO yêu cầu từ Base</a:t>
            </a:r>
          </a:p>
        </p:txBody>
      </p:sp>
      <p:sp>
        <p:nvSpPr>
          <p:cNvPr id="14" name="TextBox 13"/>
          <p:cNvSpPr txBox="1"/>
          <p:nvPr/>
        </p:nvSpPr>
        <p:spPr>
          <a:xfrm>
            <a:off x="698500" y="5791200"/>
            <a:ext cx="5156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Đầu vào của lượt tìm kiếm SAP.</a:t>
            </a:r>
          </a:p>
        </p:txBody>
      </p:sp>
      <p:sp>
        <p:nvSpPr>
          <p:cNvPr id="15" name="Rounded Rectangle 14"/>
          <p:cNvSpPr/>
          <p:nvPr/>
        </p:nvSpPr>
        <p:spPr>
          <a:xfrm>
            <a:off x="6184900" y="5308600"/>
            <a:ext cx="5499100" cy="8890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5400" y="5448300"/>
            <a:ext cx="5219700" cy="266700"/>
          </a:xfrm>
          <a:prstGeom prst="rect">
            <a:avLst/>
          </a:prstGeom>
          <a:noFill/>
        </p:spPr>
        <p:txBody>
          <a:bodyPr wrap="none" lIns="0" rIns="0" tIns="0" bIns="0">
            <a:spAutoFit/>
          </a:bodyPr>
          <a:lstStyle/>
          <a:p>
            <a:pPr>
              <a:spcBef>
                <a:spcPts val="0"/>
              </a:spcBef>
              <a:spcAft>
                <a:spcPts val="0"/>
              </a:spcAft>
            </a:pPr>
            <a:r>
              <a:rPr sz="1400" b="1">
                <a:solidFill>
                  <a:srgbClr val="087F78"/>
                </a:solidFill>
                <a:latin typeface="Arial"/>
              </a:rPr>
              <a:t>PO thực tế trên SAP</a:t>
            </a:r>
          </a:p>
        </p:txBody>
      </p:sp>
      <p:sp>
        <p:nvSpPr>
          <p:cNvPr id="17" name="TextBox 16"/>
          <p:cNvSpPr txBox="1"/>
          <p:nvPr/>
        </p:nvSpPr>
        <p:spPr>
          <a:xfrm>
            <a:off x="6375400" y="5791200"/>
            <a:ext cx="5219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Phải khớp trước khi người dùng duyệt.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05 / PHƯƠNG ÁN B</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Email: quyết định đi từ hộp thư vào SAP</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Tóm tắt theo tài liệu “MÔ TẢ LUỒNG VẬN HÀNH (FLOW) CƠ CHẾ REPLY EMAIL”.</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09</a:t>
            </a:r>
          </a:p>
        </p:txBody>
      </p:sp>
      <p:sp>
        <p:nvSpPr>
          <p:cNvPr id="10" name="Rounded Rectangle 9"/>
          <p:cNvSpPr/>
          <p:nvPr/>
        </p:nvSpPr>
        <p:spPr>
          <a:xfrm>
            <a:off x="5080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85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1</a:t>
            </a:r>
          </a:p>
        </p:txBody>
      </p:sp>
      <p:sp>
        <p:nvSpPr>
          <p:cNvPr id="13" name="TextBox 12"/>
          <p:cNvSpPr txBox="1"/>
          <p:nvPr/>
        </p:nvSpPr>
        <p:spPr>
          <a:xfrm>
            <a:off x="6985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SAP phát thư</a:t>
            </a:r>
          </a:p>
        </p:txBody>
      </p:sp>
      <p:sp>
        <p:nvSpPr>
          <p:cNvPr id="14" name="TextBox 13"/>
          <p:cNvSpPr txBox="1"/>
          <p:nvPr/>
        </p:nvSpPr>
        <p:spPr>
          <a:xfrm>
            <a:off x="6985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PO đủ điều kiện duyệt; thư</a:t>
            </a:r>
          </a:p>
        </p:txBody>
      </p:sp>
      <p:sp>
        <p:nvSpPr>
          <p:cNvPr id="15" name="TextBox 14"/>
          <p:cNvSpPr txBox="1"/>
          <p:nvPr/>
        </p:nvSpPr>
        <p:spPr>
          <a:xfrm>
            <a:off x="6985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có tóm tắt, PDF và Ref</a:t>
            </a:r>
          </a:p>
        </p:txBody>
      </p:sp>
      <p:sp>
        <p:nvSpPr>
          <p:cNvPr id="16" name="TextBox 15"/>
          <p:cNvSpPr txBox="1"/>
          <p:nvPr/>
        </p:nvSpPr>
        <p:spPr>
          <a:xfrm>
            <a:off x="698500" y="42799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Token.</a:t>
            </a:r>
          </a:p>
        </p:txBody>
      </p:sp>
      <p:sp>
        <p:nvSpPr>
          <p:cNvPr id="17" name="TextBox 16"/>
          <p:cNvSpPr txBox="1"/>
          <p:nvPr/>
        </p:nvSpPr>
        <p:spPr>
          <a:xfrm>
            <a:off x="31496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18" name="Rounded Rectangle 17"/>
          <p:cNvSpPr/>
          <p:nvPr/>
        </p:nvSpPr>
        <p:spPr>
          <a:xfrm>
            <a:off x="33655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560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49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2</a:t>
            </a:r>
          </a:p>
        </p:txBody>
      </p:sp>
      <p:sp>
        <p:nvSpPr>
          <p:cNvPr id="21" name="TextBox 20"/>
          <p:cNvSpPr txBox="1"/>
          <p:nvPr/>
        </p:nvSpPr>
        <p:spPr>
          <a:xfrm>
            <a:off x="35560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Người duyệt</a:t>
            </a:r>
          </a:p>
        </p:txBody>
      </p:sp>
      <p:sp>
        <p:nvSpPr>
          <p:cNvPr id="22" name="TextBox 21"/>
          <p:cNvSpPr txBox="1"/>
          <p:nvPr/>
        </p:nvSpPr>
        <p:spPr>
          <a:xfrm>
            <a:off x="3556000" y="34163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Reply</a:t>
            </a:r>
          </a:p>
        </p:txBody>
      </p:sp>
      <p:sp>
        <p:nvSpPr>
          <p:cNvPr id="23" name="TextBox 22"/>
          <p:cNvSpPr txBox="1"/>
          <p:nvPr/>
        </p:nvSpPr>
        <p:spPr>
          <a:xfrm>
            <a:off x="35560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APPROVE / OK hoặc REJECT;</a:t>
            </a:r>
          </a:p>
        </p:txBody>
      </p:sp>
      <p:sp>
        <p:nvSpPr>
          <p:cNvPr id="24" name="TextBox 23"/>
          <p:cNvSpPr txBox="1"/>
          <p:nvPr/>
        </p:nvSpPr>
        <p:spPr>
          <a:xfrm>
            <a:off x="35560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lý do ở dòng tiếp theo.</a:t>
            </a:r>
          </a:p>
        </p:txBody>
      </p:sp>
      <p:sp>
        <p:nvSpPr>
          <p:cNvPr id="25" name="TextBox 24"/>
          <p:cNvSpPr txBox="1"/>
          <p:nvPr/>
        </p:nvSpPr>
        <p:spPr>
          <a:xfrm>
            <a:off x="60071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26" name="Rounded Rectangle 25"/>
          <p:cNvSpPr/>
          <p:nvPr/>
        </p:nvSpPr>
        <p:spPr>
          <a:xfrm>
            <a:off x="62230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135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024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3</a:t>
            </a:r>
          </a:p>
        </p:txBody>
      </p:sp>
      <p:sp>
        <p:nvSpPr>
          <p:cNvPr id="29" name="TextBox 28"/>
          <p:cNvSpPr txBox="1"/>
          <p:nvPr/>
        </p:nvSpPr>
        <p:spPr>
          <a:xfrm>
            <a:off x="64135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Backend kiểm</a:t>
            </a:r>
          </a:p>
        </p:txBody>
      </p:sp>
      <p:sp>
        <p:nvSpPr>
          <p:cNvPr id="30" name="TextBox 29"/>
          <p:cNvSpPr txBox="1"/>
          <p:nvPr/>
        </p:nvSpPr>
        <p:spPr>
          <a:xfrm>
            <a:off x="6413500" y="34163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tra</a:t>
            </a:r>
          </a:p>
        </p:txBody>
      </p:sp>
      <p:sp>
        <p:nvSpPr>
          <p:cNvPr id="31" name="TextBox 30"/>
          <p:cNvSpPr txBox="1"/>
          <p:nvPr/>
        </p:nvSpPr>
        <p:spPr>
          <a:xfrm>
            <a:off x="64135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Ghép Ref Token, người gửi,</a:t>
            </a:r>
          </a:p>
        </p:txBody>
      </p:sp>
      <p:sp>
        <p:nvSpPr>
          <p:cNvPr id="32" name="TextBox 31"/>
          <p:cNvSpPr txBox="1"/>
          <p:nvPr/>
        </p:nvSpPr>
        <p:spPr>
          <a:xfrm>
            <a:off x="64135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quyền duyệt và trạng thái</a:t>
            </a:r>
          </a:p>
        </p:txBody>
      </p:sp>
      <p:sp>
        <p:nvSpPr>
          <p:cNvPr id="33" name="TextBox 32"/>
          <p:cNvSpPr txBox="1"/>
          <p:nvPr/>
        </p:nvSpPr>
        <p:spPr>
          <a:xfrm>
            <a:off x="6413500" y="42799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PO.</a:t>
            </a:r>
          </a:p>
        </p:txBody>
      </p:sp>
      <p:sp>
        <p:nvSpPr>
          <p:cNvPr id="34" name="TextBox 33"/>
          <p:cNvSpPr txBox="1"/>
          <p:nvPr/>
        </p:nvSpPr>
        <p:spPr>
          <a:xfrm>
            <a:off x="88646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35" name="Rounded Rectangle 34"/>
          <p:cNvSpPr/>
          <p:nvPr/>
        </p:nvSpPr>
        <p:spPr>
          <a:xfrm>
            <a:off x="90805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2710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3599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4</a:t>
            </a:r>
          </a:p>
        </p:txBody>
      </p:sp>
      <p:sp>
        <p:nvSpPr>
          <p:cNvPr id="38" name="TextBox 37"/>
          <p:cNvSpPr txBox="1"/>
          <p:nvPr/>
        </p:nvSpPr>
        <p:spPr>
          <a:xfrm>
            <a:off x="92710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SAP thực thi</a:t>
            </a:r>
          </a:p>
        </p:txBody>
      </p:sp>
      <p:sp>
        <p:nvSpPr>
          <p:cNvPr id="39" name="TextBox 38"/>
          <p:cNvSpPr txBox="1"/>
          <p:nvPr/>
        </p:nvSpPr>
        <p:spPr>
          <a:xfrm>
            <a:off x="92710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Gọi cơ chế release phù hợp;</a:t>
            </a:r>
          </a:p>
        </p:txBody>
      </p:sp>
      <p:sp>
        <p:nvSpPr>
          <p:cNvPr id="40" name="TextBox 39"/>
          <p:cNvSpPr txBox="1"/>
          <p:nvPr/>
        </p:nvSpPr>
        <p:spPr>
          <a:xfrm>
            <a:off x="92710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gửi mail kết quả sau xác</a:t>
            </a:r>
          </a:p>
        </p:txBody>
      </p:sp>
      <p:sp>
        <p:nvSpPr>
          <p:cNvPr id="41" name="TextBox 40"/>
          <p:cNvSpPr txBox="1"/>
          <p:nvPr/>
        </p:nvSpPr>
        <p:spPr>
          <a:xfrm>
            <a:off x="9271000" y="42799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nhận.</a:t>
            </a:r>
          </a:p>
        </p:txBody>
      </p:sp>
      <p:sp>
        <p:nvSpPr>
          <p:cNvPr id="42" name="Rounded Rectangle 41"/>
          <p:cNvSpPr/>
          <p:nvPr/>
        </p:nvSpPr>
        <p:spPr>
          <a:xfrm>
            <a:off x="508000" y="5816600"/>
            <a:ext cx="11176000" cy="4445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918200"/>
            <a:ext cx="10871200" cy="209550"/>
          </a:xfrm>
          <a:prstGeom prst="rect">
            <a:avLst/>
          </a:prstGeom>
          <a:noFill/>
        </p:spPr>
        <p:txBody>
          <a:bodyPr wrap="none" lIns="0" rIns="0" tIns="0" bIns="0">
            <a:spAutoFit/>
          </a:bodyPr>
          <a:lstStyle/>
          <a:p>
            <a:pPr>
              <a:spcBef>
                <a:spcPts val="0"/>
              </a:spcBef>
              <a:spcAft>
                <a:spcPts val="0"/>
              </a:spcAft>
            </a:pPr>
            <a:r>
              <a:rPr sz="1100" b="1">
                <a:solidFill>
                  <a:srgbClr val="087F78"/>
                </a:solidFill>
                <a:latin typeface="Arial"/>
              </a:rPr>
              <a:t>Luồng này tập trung vào SAP PO. Trạng thái job Base không tự đổi nếu chưa xây tích hợp bổ sung.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06 / SO SÁNH</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Chọn theo nhu cầu, không chỉ theo số nút bấm</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Đánh giá định tính từ phạm vi hiện có và thiết kế email được cung cấp.</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10</a:t>
            </a:r>
          </a:p>
        </p:txBody>
      </p:sp>
      <p:sp>
        <p:nvSpPr>
          <p:cNvPr id="10" name="Rectangle 9"/>
          <p:cNvSpPr/>
          <p:nvPr/>
        </p:nvSpPr>
        <p:spPr>
          <a:xfrm>
            <a:off x="508000" y="2184400"/>
            <a:ext cx="2692400" cy="4064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298700"/>
            <a:ext cx="2463800" cy="209550"/>
          </a:xfrm>
          <a:prstGeom prst="rect">
            <a:avLst/>
          </a:prstGeom>
          <a:noFill/>
        </p:spPr>
        <p:txBody>
          <a:bodyPr wrap="none" lIns="0" rIns="0" tIns="0" bIns="0">
            <a:spAutoFit/>
          </a:bodyPr>
          <a:lstStyle/>
          <a:p>
            <a:pPr>
              <a:spcBef>
                <a:spcPts val="0"/>
              </a:spcBef>
              <a:spcAft>
                <a:spcPts val="0"/>
              </a:spcAft>
            </a:pPr>
            <a:r>
              <a:rPr sz="1100" b="1">
                <a:solidFill>
                  <a:srgbClr val="FFFFFF"/>
                </a:solidFill>
                <a:latin typeface="Arial"/>
              </a:rPr>
              <a:t>TIÊU CHÍ</a:t>
            </a:r>
          </a:p>
        </p:txBody>
      </p:sp>
      <p:sp>
        <p:nvSpPr>
          <p:cNvPr id="12" name="Rectangle 11"/>
          <p:cNvSpPr/>
          <p:nvPr/>
        </p:nvSpPr>
        <p:spPr>
          <a:xfrm>
            <a:off x="3200400" y="2184400"/>
            <a:ext cx="4229100" cy="4064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52800" y="2298700"/>
            <a:ext cx="4000500" cy="209550"/>
          </a:xfrm>
          <a:prstGeom prst="rect">
            <a:avLst/>
          </a:prstGeom>
          <a:noFill/>
        </p:spPr>
        <p:txBody>
          <a:bodyPr wrap="none" lIns="0" rIns="0" tIns="0" bIns="0">
            <a:spAutoFit/>
          </a:bodyPr>
          <a:lstStyle/>
          <a:p>
            <a:pPr>
              <a:spcBef>
                <a:spcPts val="0"/>
              </a:spcBef>
              <a:spcAft>
                <a:spcPts val="0"/>
              </a:spcAft>
            </a:pPr>
            <a:r>
              <a:rPr sz="1100" b="1">
                <a:solidFill>
                  <a:srgbClr val="FFFFFF"/>
                </a:solidFill>
                <a:latin typeface="Arial"/>
              </a:rPr>
              <a:t>PYTHON WORKSPACE</a:t>
            </a:r>
          </a:p>
        </p:txBody>
      </p:sp>
      <p:sp>
        <p:nvSpPr>
          <p:cNvPr id="14" name="Rectangle 13"/>
          <p:cNvSpPr/>
          <p:nvPr/>
        </p:nvSpPr>
        <p:spPr>
          <a:xfrm>
            <a:off x="7429500" y="2184400"/>
            <a:ext cx="4254500" cy="4064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81900" y="2298700"/>
            <a:ext cx="4025900" cy="209550"/>
          </a:xfrm>
          <a:prstGeom prst="rect">
            <a:avLst/>
          </a:prstGeom>
          <a:noFill/>
        </p:spPr>
        <p:txBody>
          <a:bodyPr wrap="none" lIns="0" rIns="0" tIns="0" bIns="0">
            <a:spAutoFit/>
          </a:bodyPr>
          <a:lstStyle/>
          <a:p>
            <a:pPr>
              <a:spcBef>
                <a:spcPts val="0"/>
              </a:spcBef>
              <a:spcAft>
                <a:spcPts val="0"/>
              </a:spcAft>
            </a:pPr>
            <a:r>
              <a:rPr sz="1100" b="1">
                <a:solidFill>
                  <a:srgbClr val="FFFFFF"/>
                </a:solidFill>
                <a:latin typeface="Arial"/>
              </a:rPr>
              <a:t>REPLY EMAIL</a:t>
            </a:r>
          </a:p>
        </p:txBody>
      </p:sp>
      <p:sp>
        <p:nvSpPr>
          <p:cNvPr id="16" name="Rectangle 15"/>
          <p:cNvSpPr/>
          <p:nvPr/>
        </p:nvSpPr>
        <p:spPr>
          <a:xfrm>
            <a:off x="508000" y="2590800"/>
            <a:ext cx="26797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05100"/>
            <a:ext cx="2463800" cy="190500"/>
          </a:xfrm>
          <a:prstGeom prst="rect">
            <a:avLst/>
          </a:prstGeom>
          <a:noFill/>
        </p:spPr>
        <p:txBody>
          <a:bodyPr wrap="none" lIns="0" rIns="0" tIns="0" bIns="0">
            <a:spAutoFit/>
          </a:bodyPr>
          <a:lstStyle/>
          <a:p>
            <a:pPr>
              <a:spcBef>
                <a:spcPts val="0"/>
              </a:spcBef>
              <a:spcAft>
                <a:spcPts val="0"/>
              </a:spcAft>
            </a:pPr>
            <a:r>
              <a:rPr sz="1000" b="1">
                <a:solidFill>
                  <a:srgbClr val="163B40"/>
                </a:solidFill>
                <a:latin typeface="Arial"/>
              </a:rPr>
              <a:t>Nơi thao tác</a:t>
            </a:r>
          </a:p>
        </p:txBody>
      </p:sp>
      <p:sp>
        <p:nvSpPr>
          <p:cNvPr id="18" name="Rectangle 17"/>
          <p:cNvSpPr/>
          <p:nvPr/>
        </p:nvSpPr>
        <p:spPr>
          <a:xfrm>
            <a:off x="3200400" y="2590800"/>
            <a:ext cx="42164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352800" y="2705100"/>
            <a:ext cx="4000500" cy="190500"/>
          </a:xfrm>
          <a:prstGeom prst="rect">
            <a:avLst/>
          </a:prstGeom>
          <a:noFill/>
        </p:spPr>
        <p:txBody>
          <a:bodyPr wrap="none" lIns="0" rIns="0" tIns="0" bIns="0">
            <a:spAutoFit/>
          </a:bodyPr>
          <a:lstStyle/>
          <a:p>
            <a:pPr>
              <a:spcBef>
                <a:spcPts val="0"/>
              </a:spcBef>
              <a:spcAft>
                <a:spcPts val="0"/>
              </a:spcAft>
            </a:pPr>
            <a:r>
              <a:rPr sz="1000" b="1">
                <a:solidFill>
                  <a:srgbClr val="163B40"/>
                </a:solidFill>
                <a:latin typeface="Arial"/>
              </a:rPr>
              <a:t>Windows • Base + SAP cạnh nhau</a:t>
            </a:r>
          </a:p>
        </p:txBody>
      </p:sp>
      <p:sp>
        <p:nvSpPr>
          <p:cNvPr id="20" name="Rectangle 19"/>
          <p:cNvSpPr/>
          <p:nvPr/>
        </p:nvSpPr>
        <p:spPr>
          <a:xfrm>
            <a:off x="7429500" y="2590800"/>
            <a:ext cx="42418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1900" y="2705100"/>
            <a:ext cx="4025900" cy="190500"/>
          </a:xfrm>
          <a:prstGeom prst="rect">
            <a:avLst/>
          </a:prstGeom>
          <a:noFill/>
        </p:spPr>
        <p:txBody>
          <a:bodyPr wrap="none" lIns="0" rIns="0" tIns="0" bIns="0">
            <a:spAutoFit/>
          </a:bodyPr>
          <a:lstStyle/>
          <a:p>
            <a:pPr>
              <a:spcBef>
                <a:spcPts val="0"/>
              </a:spcBef>
              <a:spcAft>
                <a:spcPts val="0"/>
              </a:spcAft>
            </a:pPr>
            <a:r>
              <a:rPr sz="1000" b="1">
                <a:solidFill>
                  <a:srgbClr val="163B40"/>
                </a:solidFill>
                <a:latin typeface="Arial"/>
              </a:rPr>
              <a:t>Hộp thư trên máy tính / điện thoại</a:t>
            </a:r>
          </a:p>
        </p:txBody>
      </p:sp>
      <p:sp>
        <p:nvSpPr>
          <p:cNvPr id="22" name="Rectangle 21"/>
          <p:cNvSpPr/>
          <p:nvPr/>
        </p:nvSpPr>
        <p:spPr>
          <a:xfrm>
            <a:off x="508000" y="3022600"/>
            <a:ext cx="26797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400" y="3136900"/>
            <a:ext cx="24638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Xem chi tiết &amp; đối chiếu</a:t>
            </a:r>
          </a:p>
        </p:txBody>
      </p:sp>
      <p:sp>
        <p:nvSpPr>
          <p:cNvPr id="24" name="Rectangle 23"/>
          <p:cNvSpPr/>
          <p:nvPr/>
        </p:nvSpPr>
        <p:spPr>
          <a:xfrm>
            <a:off x="3200400" y="3022600"/>
            <a:ext cx="42164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352800" y="3136900"/>
            <a:ext cx="40005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Mạnh: xem trực tiếp cả hai hệ thống</a:t>
            </a:r>
          </a:p>
        </p:txBody>
      </p:sp>
      <p:sp>
        <p:nvSpPr>
          <p:cNvPr id="26" name="Rectangle 25"/>
          <p:cNvSpPr/>
          <p:nvPr/>
        </p:nvSpPr>
        <p:spPr>
          <a:xfrm>
            <a:off x="7429500" y="3022600"/>
            <a:ext cx="42418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581900" y="3136900"/>
            <a:ext cx="40259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Tóm tắt + PDF; có thể cần mở SAP</a:t>
            </a:r>
          </a:p>
        </p:txBody>
      </p:sp>
      <p:sp>
        <p:nvSpPr>
          <p:cNvPr id="28" name="Rectangle 27"/>
          <p:cNvSpPr/>
          <p:nvPr/>
        </p:nvSpPr>
        <p:spPr>
          <a:xfrm>
            <a:off x="508000" y="3454400"/>
            <a:ext cx="26797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400" y="3568700"/>
            <a:ext cx="24638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Thực hiện duyệt</a:t>
            </a:r>
          </a:p>
        </p:txBody>
      </p:sp>
      <p:sp>
        <p:nvSpPr>
          <p:cNvPr id="30" name="Rectangle 29"/>
          <p:cNvSpPr/>
          <p:nvPr/>
        </p:nvSpPr>
        <p:spPr>
          <a:xfrm>
            <a:off x="3200400" y="3454400"/>
            <a:ext cx="42164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52800" y="3568700"/>
            <a:ext cx="40005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Thủ công trên Base và SAP</a:t>
            </a:r>
          </a:p>
        </p:txBody>
      </p:sp>
      <p:sp>
        <p:nvSpPr>
          <p:cNvPr id="32" name="Rectangle 31"/>
          <p:cNvSpPr/>
          <p:nvPr/>
        </p:nvSpPr>
        <p:spPr>
          <a:xfrm>
            <a:off x="7429500" y="3454400"/>
            <a:ext cx="42418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81900" y="3568700"/>
            <a:ext cx="40259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Backend SAP thực hiện từ phản hồi</a:t>
            </a:r>
          </a:p>
        </p:txBody>
      </p:sp>
      <p:sp>
        <p:nvSpPr>
          <p:cNvPr id="34" name="Rectangle 33"/>
          <p:cNvSpPr/>
          <p:nvPr/>
        </p:nvSpPr>
        <p:spPr>
          <a:xfrm>
            <a:off x="508000" y="3886200"/>
            <a:ext cx="26797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000500"/>
            <a:ext cx="24638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Phụ thuộc kỹ thuật</a:t>
            </a:r>
          </a:p>
        </p:txBody>
      </p:sp>
      <p:sp>
        <p:nvSpPr>
          <p:cNvPr id="36" name="Rectangle 35"/>
          <p:cNvSpPr/>
          <p:nvPr/>
        </p:nvSpPr>
        <p:spPr>
          <a:xfrm>
            <a:off x="3200400" y="3886200"/>
            <a:ext cx="42164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52800" y="4000500"/>
            <a:ext cx="40005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Base API, Qt, SAP GUI Scripting</a:t>
            </a:r>
          </a:p>
        </p:txBody>
      </p:sp>
      <p:sp>
        <p:nvSpPr>
          <p:cNvPr id="38" name="Rectangle 37"/>
          <p:cNvSpPr/>
          <p:nvPr/>
        </p:nvSpPr>
        <p:spPr>
          <a:xfrm>
            <a:off x="7429500" y="3886200"/>
            <a:ext cx="42418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581900" y="4000500"/>
            <a:ext cx="40259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Mail inbound/outbound, ABAP, phân quyền</a:t>
            </a:r>
          </a:p>
        </p:txBody>
      </p:sp>
      <p:sp>
        <p:nvSpPr>
          <p:cNvPr id="40" name="Rectangle 39"/>
          <p:cNvSpPr/>
          <p:nvPr/>
        </p:nvSpPr>
        <p:spPr>
          <a:xfrm>
            <a:off x="508000" y="4318000"/>
            <a:ext cx="26797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0400" y="4432300"/>
            <a:ext cx="24638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Ảnh hưởng trạng thái Base</a:t>
            </a:r>
          </a:p>
        </p:txBody>
      </p:sp>
      <p:sp>
        <p:nvSpPr>
          <p:cNvPr id="42" name="Rectangle 41"/>
          <p:cNvSpPr/>
          <p:nvPr/>
        </p:nvSpPr>
        <p:spPr>
          <a:xfrm>
            <a:off x="3200400" y="4318000"/>
            <a:ext cx="42164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352800" y="4432300"/>
            <a:ext cx="40005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Người dùng thao tác trực tiếp</a:t>
            </a:r>
          </a:p>
        </p:txBody>
      </p:sp>
      <p:sp>
        <p:nvSpPr>
          <p:cNvPr id="44" name="Rectangle 43"/>
          <p:cNvSpPr/>
          <p:nvPr/>
        </p:nvSpPr>
        <p:spPr>
          <a:xfrm>
            <a:off x="7429500" y="4318000"/>
            <a:ext cx="42418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81900" y="4432300"/>
            <a:ext cx="40259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Cần thiết kế đồng bộ riêng</a:t>
            </a:r>
          </a:p>
        </p:txBody>
      </p:sp>
      <p:sp>
        <p:nvSpPr>
          <p:cNvPr id="46" name="Rectangle 45"/>
          <p:cNvSpPr/>
          <p:nvPr/>
        </p:nvSpPr>
        <p:spPr>
          <a:xfrm>
            <a:off x="508000" y="4749800"/>
            <a:ext cx="26797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0400" y="4864100"/>
            <a:ext cx="24638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Mức sẵn sàng</a:t>
            </a:r>
          </a:p>
        </p:txBody>
      </p:sp>
      <p:sp>
        <p:nvSpPr>
          <p:cNvPr id="48" name="Rectangle 47"/>
          <p:cNvSpPr/>
          <p:nvPr/>
        </p:nvSpPr>
        <p:spPr>
          <a:xfrm>
            <a:off x="3200400" y="4749800"/>
            <a:ext cx="42164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352800" y="4864100"/>
            <a:ext cx="40005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Đã có mã; SAP cần UAT thực tế</a:t>
            </a:r>
          </a:p>
        </p:txBody>
      </p:sp>
      <p:sp>
        <p:nvSpPr>
          <p:cNvPr id="50" name="Rectangle 49"/>
          <p:cNvSpPr/>
          <p:nvPr/>
        </p:nvSpPr>
        <p:spPr>
          <a:xfrm>
            <a:off x="7429500" y="4749800"/>
            <a:ext cx="4241800" cy="4191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581900" y="4864100"/>
            <a:ext cx="40259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Thiết kế; cần phát triển và kiểm thử</a:t>
            </a:r>
          </a:p>
        </p:txBody>
      </p:sp>
      <p:sp>
        <p:nvSpPr>
          <p:cNvPr id="52" name="Rectangle 51"/>
          <p:cNvSpPr/>
          <p:nvPr/>
        </p:nvSpPr>
        <p:spPr>
          <a:xfrm>
            <a:off x="508000" y="5181600"/>
            <a:ext cx="26797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0400" y="5295900"/>
            <a:ext cx="24638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Phù hợp nhất</a:t>
            </a:r>
          </a:p>
        </p:txBody>
      </p:sp>
      <p:sp>
        <p:nvSpPr>
          <p:cNvPr id="54" name="Rectangle 53"/>
          <p:cNvSpPr/>
          <p:nvPr/>
        </p:nvSpPr>
        <p:spPr>
          <a:xfrm>
            <a:off x="3200400" y="5181600"/>
            <a:ext cx="42164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352800" y="5295900"/>
            <a:ext cx="40005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Người xử lý cần kiểm tra sâu</a:t>
            </a:r>
          </a:p>
        </p:txBody>
      </p:sp>
      <p:sp>
        <p:nvSpPr>
          <p:cNvPr id="56" name="Rectangle 55"/>
          <p:cNvSpPr/>
          <p:nvPr/>
        </p:nvSpPr>
        <p:spPr>
          <a:xfrm>
            <a:off x="7429500" y="5181600"/>
            <a:ext cx="4241800" cy="419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7581900" y="5295900"/>
            <a:ext cx="40259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Người duyệt cần linh hoạt địa điểm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07 / ĐIỀU KIỆN TRIỂN KHAI EMAIL</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Bốn điều kiện cần xác minh trước triển khai</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Các khẳng định trong tài liệu là mục tiêu thiết kế; cần chứng minh bằng cấu hình và kiểm thử.</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11</a:t>
            </a:r>
          </a:p>
        </p:txBody>
      </p:sp>
      <p:sp>
        <p:nvSpPr>
          <p:cNvPr id="10" name="Rounded Rectangle 9"/>
          <p:cNvSpPr/>
          <p:nvPr/>
        </p:nvSpPr>
        <p:spPr>
          <a:xfrm>
            <a:off x="508000" y="2209800"/>
            <a:ext cx="5435600" cy="160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8000" y="2209800"/>
            <a:ext cx="50800" cy="16002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600" y="2425700"/>
            <a:ext cx="50546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01 / DANH TÍNH</a:t>
            </a:r>
          </a:p>
        </p:txBody>
      </p:sp>
      <p:sp>
        <p:nvSpPr>
          <p:cNvPr id="13" name="TextBox 12"/>
          <p:cNvSpPr txBox="1"/>
          <p:nvPr/>
        </p:nvSpPr>
        <p:spPr>
          <a:xfrm>
            <a:off x="736600" y="2743200"/>
            <a:ext cx="50546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Email gửi về ≠ đủ xác thực</a:t>
            </a:r>
          </a:p>
        </p:txBody>
      </p:sp>
      <p:sp>
        <p:nvSpPr>
          <p:cNvPr id="14" name="TextBox 13"/>
          <p:cNvSpPr txBox="1"/>
          <p:nvPr/>
        </p:nvSpPr>
        <p:spPr>
          <a:xfrm>
            <a:off x="736600" y="32512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Ghép SU01 cần đi cùng xác thực kênh thư, token và</a:t>
            </a:r>
          </a:p>
        </p:txBody>
      </p:sp>
      <p:sp>
        <p:nvSpPr>
          <p:cNvPr id="15" name="TextBox 14"/>
          <p:cNvSpPr txBox="1"/>
          <p:nvPr/>
        </p:nvSpPr>
        <p:spPr>
          <a:xfrm>
            <a:off x="736600" y="35179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quyền release thực tế.</a:t>
            </a:r>
          </a:p>
        </p:txBody>
      </p:sp>
      <p:sp>
        <p:nvSpPr>
          <p:cNvPr id="16" name="Rounded Rectangle 15"/>
          <p:cNvSpPr/>
          <p:nvPr/>
        </p:nvSpPr>
        <p:spPr>
          <a:xfrm>
            <a:off x="6197600" y="2209800"/>
            <a:ext cx="5486400" cy="160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7600" y="2209800"/>
            <a:ext cx="50800" cy="16002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6200" y="2425700"/>
            <a:ext cx="51054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02 / DUYỆT TRÙNG</a:t>
            </a:r>
          </a:p>
        </p:txBody>
      </p:sp>
      <p:sp>
        <p:nvSpPr>
          <p:cNvPr id="19" name="TextBox 18"/>
          <p:cNvSpPr txBox="1"/>
          <p:nvPr/>
        </p:nvSpPr>
        <p:spPr>
          <a:xfrm>
            <a:off x="6426200" y="27432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Cần khóa và xử lý nguyên tử</a:t>
            </a:r>
          </a:p>
        </p:txBody>
      </p:sp>
      <p:sp>
        <p:nvSpPr>
          <p:cNvPr id="20" name="TextBox 19"/>
          <p:cNvSpPr txBox="1"/>
          <p:nvPr/>
        </p:nvSpPr>
        <p:spPr>
          <a:xfrm>
            <a:off x="6426200" y="32512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Kiểm tra trạng thái trước khi ghi chưa đủ nếu email và</a:t>
            </a:r>
          </a:p>
        </p:txBody>
      </p:sp>
      <p:sp>
        <p:nvSpPr>
          <p:cNvPr id="21" name="TextBox 20"/>
          <p:cNvSpPr txBox="1"/>
          <p:nvPr/>
        </p:nvSpPr>
        <p:spPr>
          <a:xfrm>
            <a:off x="6426200" y="35179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SAP GUI duyệt đồng thời.</a:t>
            </a:r>
          </a:p>
        </p:txBody>
      </p:sp>
      <p:sp>
        <p:nvSpPr>
          <p:cNvPr id="22" name="Rounded Rectangle 21"/>
          <p:cNvSpPr/>
          <p:nvPr/>
        </p:nvSpPr>
        <p:spPr>
          <a:xfrm>
            <a:off x="508000" y="4013200"/>
            <a:ext cx="5435600" cy="160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000" y="4013200"/>
            <a:ext cx="50800" cy="16002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229100"/>
            <a:ext cx="50546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03 / NHẬT KÝ</a:t>
            </a:r>
          </a:p>
        </p:txBody>
      </p:sp>
      <p:sp>
        <p:nvSpPr>
          <p:cNvPr id="25" name="TextBox 24"/>
          <p:cNvSpPr txBox="1"/>
          <p:nvPr/>
        </p:nvSpPr>
        <p:spPr>
          <a:xfrm>
            <a:off x="736600" y="4546600"/>
            <a:ext cx="50546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Không mặc định là user của sếp</a:t>
            </a:r>
          </a:p>
        </p:txBody>
      </p:sp>
      <p:sp>
        <p:nvSpPr>
          <p:cNvPr id="26" name="TextBox 25"/>
          <p:cNvSpPr txBox="1"/>
          <p:nvPr/>
        </p:nvSpPr>
        <p:spPr>
          <a:xfrm>
            <a:off x="736600" y="50546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User chạy backend có thể là tài khoản kỹ thuật; cần lưu</a:t>
            </a:r>
          </a:p>
        </p:txBody>
      </p:sp>
      <p:sp>
        <p:nvSpPr>
          <p:cNvPr id="27" name="TextBox 26"/>
          <p:cNvSpPr txBox="1"/>
          <p:nvPr/>
        </p:nvSpPr>
        <p:spPr>
          <a:xfrm>
            <a:off x="736600" y="53213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người yêu cầu và người thực thi.</a:t>
            </a:r>
          </a:p>
        </p:txBody>
      </p:sp>
      <p:sp>
        <p:nvSpPr>
          <p:cNvPr id="28" name="Rounded Rectangle 27"/>
          <p:cNvSpPr/>
          <p:nvPr/>
        </p:nvSpPr>
        <p:spPr>
          <a:xfrm>
            <a:off x="6197600" y="4013200"/>
            <a:ext cx="5486400" cy="160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97600" y="4013200"/>
            <a:ext cx="50800" cy="16002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26200" y="4229100"/>
            <a:ext cx="51054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04 / REJECT &amp; THÀNH CÔNG</a:t>
            </a:r>
          </a:p>
        </p:txBody>
      </p:sp>
      <p:sp>
        <p:nvSpPr>
          <p:cNvPr id="31" name="TextBox 30"/>
          <p:cNvSpPr txBox="1"/>
          <p:nvPr/>
        </p:nvSpPr>
        <p:spPr>
          <a:xfrm>
            <a:off x="6426200" y="45466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Cần chốt nghiệp vụ riêng</a:t>
            </a:r>
          </a:p>
        </p:txBody>
      </p:sp>
      <p:sp>
        <p:nvSpPr>
          <p:cNvPr id="32" name="TextBox 31"/>
          <p:cNvSpPr txBox="1"/>
          <p:nvPr/>
        </p:nvSpPr>
        <p:spPr>
          <a:xfrm>
            <a:off x="6426200" y="50546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BAPI release không thay thế thiết kế từ chối; chỉ báo</a:t>
            </a:r>
          </a:p>
        </p:txBody>
      </p:sp>
      <p:sp>
        <p:nvSpPr>
          <p:cNvPr id="33" name="TextBox 32"/>
          <p:cNvSpPr txBox="1"/>
          <p:nvPr/>
        </p:nvSpPr>
        <p:spPr>
          <a:xfrm>
            <a:off x="6426200" y="53213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thành công sau commit và đọc lại.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08 / KIỂM SOÁT VẬN HÀNH</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Mỗi phương án có một bộ kiểm soát trọng tâm</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Cùng giữ trạng thái gốc của Base và SAP; không tạo cảm giác đã duyệt khi mới gửi yêu cầu.</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12</a:t>
            </a:r>
          </a:p>
        </p:txBody>
      </p:sp>
      <p:sp>
        <p:nvSpPr>
          <p:cNvPr id="10" name="Rounded Rectangle 9"/>
          <p:cNvSpPr/>
          <p:nvPr/>
        </p:nvSpPr>
        <p:spPr>
          <a:xfrm>
            <a:off x="508000" y="2222500"/>
            <a:ext cx="5435600" cy="33909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8000" y="2222500"/>
            <a:ext cx="50800" cy="33909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600" y="2438400"/>
            <a:ext cx="50546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PYTHON</a:t>
            </a:r>
          </a:p>
        </p:txBody>
      </p:sp>
      <p:sp>
        <p:nvSpPr>
          <p:cNvPr id="13" name="TextBox 12"/>
          <p:cNvSpPr txBox="1"/>
          <p:nvPr/>
        </p:nvSpPr>
        <p:spPr>
          <a:xfrm>
            <a:off x="736600" y="2755900"/>
            <a:ext cx="50546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Đúng màn hình, đúng PO</a:t>
            </a:r>
          </a:p>
        </p:txBody>
      </p:sp>
      <p:sp>
        <p:nvSpPr>
          <p:cNvPr id="14" name="TextBox 13"/>
          <p:cNvSpPr txBox="1"/>
          <p:nvPr/>
        </p:nvSpPr>
        <p:spPr>
          <a:xfrm>
            <a:off x="736600" y="32639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1. Xác minh PO SAP khớp PO yêu cầu.</a:t>
            </a:r>
          </a:p>
        </p:txBody>
      </p:sp>
      <p:sp>
        <p:nvSpPr>
          <p:cNvPr id="15" name="TextBox 14"/>
          <p:cNvSpPr txBox="1"/>
          <p:nvPr/>
        </p:nvSpPr>
        <p:spPr>
          <a:xfrm>
            <a:off x="736600" y="35306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2. Dừng ở hộp thoại chưa nhận diện.</a:t>
            </a:r>
          </a:p>
        </p:txBody>
      </p:sp>
      <p:sp>
        <p:nvSpPr>
          <p:cNvPr id="16" name="TextBox 15"/>
          <p:cNvSpPr txBox="1"/>
          <p:nvPr/>
        </p:nvSpPr>
        <p:spPr>
          <a:xfrm>
            <a:off x="736600" y="37973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3. Làm mới danh sách để kiểm tra kết quả.</a:t>
            </a:r>
          </a:p>
        </p:txBody>
      </p:sp>
      <p:sp>
        <p:nvSpPr>
          <p:cNvPr id="17" name="TextBox 16"/>
          <p:cNvSpPr txBox="1"/>
          <p:nvPr/>
        </p:nvSpPr>
        <p:spPr>
          <a:xfrm>
            <a:off x="736600" y="40640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4. Ghi nhận trường hợp Base/SAP lệch trạng thái;</a:t>
            </a:r>
          </a:p>
        </p:txBody>
      </p:sp>
      <p:sp>
        <p:nvSpPr>
          <p:cNvPr id="18" name="TextBox 17"/>
          <p:cNvSpPr txBox="1"/>
          <p:nvPr/>
        </p:nvSpPr>
        <p:spPr>
          <a:xfrm>
            <a:off x="736600" y="4330700"/>
            <a:ext cx="50546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không tự coi đã hoàn tất.</a:t>
            </a:r>
          </a:p>
        </p:txBody>
      </p:sp>
      <p:sp>
        <p:nvSpPr>
          <p:cNvPr id="19" name="Rounded Rectangle 18"/>
          <p:cNvSpPr/>
          <p:nvPr/>
        </p:nvSpPr>
        <p:spPr>
          <a:xfrm>
            <a:off x="6197600" y="2222500"/>
            <a:ext cx="5486400" cy="33909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97600" y="2222500"/>
            <a:ext cx="50800" cy="3390900"/>
          </a:xfrm>
          <a:prstGeom prst="rect">
            <a:avLst/>
          </a:prstGeom>
          <a:solidFill>
            <a:srgbClr val="C893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6200" y="2438400"/>
            <a:ext cx="5105400" cy="190500"/>
          </a:xfrm>
          <a:prstGeom prst="rect">
            <a:avLst/>
          </a:prstGeom>
          <a:noFill/>
        </p:spPr>
        <p:txBody>
          <a:bodyPr wrap="none" lIns="0" rIns="0" tIns="0" bIns="0">
            <a:spAutoFit/>
          </a:bodyPr>
          <a:lstStyle/>
          <a:p>
            <a:pPr>
              <a:spcBef>
                <a:spcPts val="0"/>
              </a:spcBef>
              <a:spcAft>
                <a:spcPts val="0"/>
              </a:spcAft>
            </a:pPr>
            <a:r>
              <a:rPr sz="1000" b="1">
                <a:solidFill>
                  <a:srgbClr val="C89340"/>
                </a:solidFill>
                <a:latin typeface="Arial"/>
              </a:rPr>
              <a:t>EMAIL</a:t>
            </a:r>
          </a:p>
        </p:txBody>
      </p:sp>
      <p:sp>
        <p:nvSpPr>
          <p:cNvPr id="22" name="TextBox 21"/>
          <p:cNvSpPr txBox="1"/>
          <p:nvPr/>
        </p:nvSpPr>
        <p:spPr>
          <a:xfrm>
            <a:off x="6426200" y="27559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Đúng người, đúng phiên bản</a:t>
            </a:r>
          </a:p>
        </p:txBody>
      </p:sp>
      <p:sp>
        <p:nvSpPr>
          <p:cNvPr id="23" name="TextBox 22"/>
          <p:cNvSpPr txBox="1"/>
          <p:nvPr/>
        </p:nvSpPr>
        <p:spPr>
          <a:xfrm>
            <a:off x="6426200" y="32639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1. Token gắn PO, cấp duyệt và phiên bản.</a:t>
            </a:r>
          </a:p>
        </p:txBody>
      </p:sp>
      <p:sp>
        <p:nvSpPr>
          <p:cNvPr id="24" name="TextBox 23"/>
          <p:cNvSpPr txBox="1"/>
          <p:nvPr/>
        </p:nvSpPr>
        <p:spPr>
          <a:xfrm>
            <a:off x="6426200" y="35306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2. Hết hạn, dùng một lần và chống phát lại.</a:t>
            </a:r>
          </a:p>
        </p:txBody>
      </p:sp>
      <p:sp>
        <p:nvSpPr>
          <p:cNvPr id="25" name="TextBox 24"/>
          <p:cNvSpPr txBox="1"/>
          <p:nvPr/>
        </p:nvSpPr>
        <p:spPr>
          <a:xfrm>
            <a:off x="6426200" y="37973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3. Kiểm tra quyền, khóa xử lý đồng thời.</a:t>
            </a:r>
          </a:p>
        </p:txBody>
      </p:sp>
      <p:sp>
        <p:nvSpPr>
          <p:cNvPr id="26" name="TextBox 25"/>
          <p:cNvSpPr txBox="1"/>
          <p:nvPr/>
        </p:nvSpPr>
        <p:spPr>
          <a:xfrm>
            <a:off x="6426200" y="40640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4. Đọc phần trả lời mới; không lấy APPROVE từ thư trích</a:t>
            </a:r>
          </a:p>
        </p:txBody>
      </p:sp>
      <p:sp>
        <p:nvSpPr>
          <p:cNvPr id="27" name="TextBox 26"/>
          <p:cNvSpPr txBox="1"/>
          <p:nvPr/>
        </p:nvSpPr>
        <p:spPr>
          <a:xfrm>
            <a:off x="6426200" y="43307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dẫn.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09 / CÁC TÌNH HUỐNG PHẢI KIỂM THỬ</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Kiểm thử cả ngoại lệ và luồng thành công</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Một bộ tình huống chung giúp so sánh công bằng hai phương án.</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13</a:t>
            </a:r>
          </a:p>
        </p:txBody>
      </p:sp>
      <p:sp>
        <p:nvSpPr>
          <p:cNvPr id="10" name="Rectangle 9"/>
          <p:cNvSpPr/>
          <p:nvPr/>
        </p:nvSpPr>
        <p:spPr>
          <a:xfrm>
            <a:off x="508000" y="2235200"/>
            <a:ext cx="3124200" cy="4191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0400" y="2349500"/>
            <a:ext cx="2895600" cy="209550"/>
          </a:xfrm>
          <a:prstGeom prst="rect">
            <a:avLst/>
          </a:prstGeom>
          <a:noFill/>
        </p:spPr>
        <p:txBody>
          <a:bodyPr wrap="none" lIns="0" rIns="0" tIns="0" bIns="0">
            <a:spAutoFit/>
          </a:bodyPr>
          <a:lstStyle/>
          <a:p>
            <a:pPr>
              <a:spcBef>
                <a:spcPts val="0"/>
              </a:spcBef>
              <a:spcAft>
                <a:spcPts val="0"/>
              </a:spcAft>
            </a:pPr>
            <a:r>
              <a:rPr sz="1100" b="1">
                <a:solidFill>
                  <a:srgbClr val="FFFFFF"/>
                </a:solidFill>
                <a:latin typeface="Arial"/>
              </a:rPr>
              <a:t>TÌNH HUỐNG</a:t>
            </a:r>
          </a:p>
        </p:txBody>
      </p:sp>
      <p:sp>
        <p:nvSpPr>
          <p:cNvPr id="12" name="Rectangle 11"/>
          <p:cNvSpPr/>
          <p:nvPr/>
        </p:nvSpPr>
        <p:spPr>
          <a:xfrm>
            <a:off x="3632200" y="2235200"/>
            <a:ext cx="3937000" cy="4191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784600" y="2349500"/>
            <a:ext cx="3708400" cy="209550"/>
          </a:xfrm>
          <a:prstGeom prst="rect">
            <a:avLst/>
          </a:prstGeom>
          <a:noFill/>
        </p:spPr>
        <p:txBody>
          <a:bodyPr wrap="none" lIns="0" rIns="0" tIns="0" bIns="0">
            <a:spAutoFit/>
          </a:bodyPr>
          <a:lstStyle/>
          <a:p>
            <a:pPr>
              <a:spcBef>
                <a:spcPts val="0"/>
              </a:spcBef>
              <a:spcAft>
                <a:spcPts val="0"/>
              </a:spcAft>
            </a:pPr>
            <a:r>
              <a:rPr sz="1100" b="1">
                <a:solidFill>
                  <a:srgbClr val="FFFFFF"/>
                </a:solidFill>
                <a:latin typeface="Arial"/>
              </a:rPr>
              <a:t>PYTHON</a:t>
            </a:r>
          </a:p>
        </p:txBody>
      </p:sp>
      <p:sp>
        <p:nvSpPr>
          <p:cNvPr id="14" name="Rectangle 13"/>
          <p:cNvSpPr/>
          <p:nvPr/>
        </p:nvSpPr>
        <p:spPr>
          <a:xfrm>
            <a:off x="7569200" y="2235200"/>
            <a:ext cx="4114800" cy="4191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21600" y="2349500"/>
            <a:ext cx="3886200" cy="209550"/>
          </a:xfrm>
          <a:prstGeom prst="rect">
            <a:avLst/>
          </a:prstGeom>
          <a:noFill/>
        </p:spPr>
        <p:txBody>
          <a:bodyPr wrap="none" lIns="0" rIns="0" tIns="0" bIns="0">
            <a:spAutoFit/>
          </a:bodyPr>
          <a:lstStyle/>
          <a:p>
            <a:pPr>
              <a:spcBef>
                <a:spcPts val="0"/>
              </a:spcBef>
              <a:spcAft>
                <a:spcPts val="0"/>
              </a:spcAft>
            </a:pPr>
            <a:r>
              <a:rPr sz="1100" b="1">
                <a:solidFill>
                  <a:srgbClr val="FFFFFF"/>
                </a:solidFill>
                <a:latin typeface="Arial"/>
              </a:rPr>
              <a:t>EMAIL</a:t>
            </a:r>
          </a:p>
        </p:txBody>
      </p:sp>
      <p:sp>
        <p:nvSpPr>
          <p:cNvPr id="16" name="Rectangle 15"/>
          <p:cNvSpPr/>
          <p:nvPr/>
        </p:nvSpPr>
        <p:spPr>
          <a:xfrm>
            <a:off x="508000" y="2654300"/>
            <a:ext cx="31115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0400" y="2755900"/>
            <a:ext cx="28956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PO đúng / đủ quyền</a:t>
            </a:r>
          </a:p>
        </p:txBody>
      </p:sp>
      <p:sp>
        <p:nvSpPr>
          <p:cNvPr id="18" name="Rectangle 17"/>
          <p:cNvSpPr/>
          <p:nvPr/>
        </p:nvSpPr>
        <p:spPr>
          <a:xfrm>
            <a:off x="3632200" y="2654300"/>
            <a:ext cx="39243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84600" y="2755900"/>
            <a:ext cx="37084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Mở đúng PO; người dùng duyệt</a:t>
            </a:r>
          </a:p>
        </p:txBody>
      </p:sp>
      <p:sp>
        <p:nvSpPr>
          <p:cNvPr id="20" name="Rectangle 19"/>
          <p:cNvSpPr/>
          <p:nvPr/>
        </p:nvSpPr>
        <p:spPr>
          <a:xfrm>
            <a:off x="7569200" y="2654300"/>
            <a:ext cx="41021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721600" y="2755900"/>
            <a:ext cx="38862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Đúng cấp duyệt; commit rồi phản hồi</a:t>
            </a:r>
          </a:p>
        </p:txBody>
      </p:sp>
      <p:sp>
        <p:nvSpPr>
          <p:cNvPr id="22" name="Rectangle 21"/>
          <p:cNvSpPr/>
          <p:nvPr/>
        </p:nvSpPr>
        <p:spPr>
          <a:xfrm>
            <a:off x="508000" y="3149600"/>
            <a:ext cx="31115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0400" y="3251200"/>
            <a:ext cx="28956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PO đã duyệt trên SAP</a:t>
            </a:r>
          </a:p>
        </p:txBody>
      </p:sp>
      <p:sp>
        <p:nvSpPr>
          <p:cNvPr id="24" name="Rectangle 23"/>
          <p:cNvSpPr/>
          <p:nvPr/>
        </p:nvSpPr>
        <p:spPr>
          <a:xfrm>
            <a:off x="3632200" y="3149600"/>
            <a:ext cx="39243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784600" y="3251200"/>
            <a:ext cx="37084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Đọc trạng thái, tránh thao tác thừa</a:t>
            </a:r>
          </a:p>
        </p:txBody>
      </p:sp>
      <p:sp>
        <p:nvSpPr>
          <p:cNvPr id="26" name="Rectangle 25"/>
          <p:cNvSpPr/>
          <p:nvPr/>
        </p:nvSpPr>
        <p:spPr>
          <a:xfrm>
            <a:off x="7569200" y="3149600"/>
            <a:ext cx="41021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21600" y="3251200"/>
            <a:ext cx="38862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Bỏ qua yêu cầu trùng; phản hồi đã xử lý</a:t>
            </a:r>
          </a:p>
        </p:txBody>
      </p:sp>
      <p:sp>
        <p:nvSpPr>
          <p:cNvPr id="28" name="Rectangle 27"/>
          <p:cNvSpPr/>
          <p:nvPr/>
        </p:nvSpPr>
        <p:spPr>
          <a:xfrm>
            <a:off x="508000" y="3644900"/>
            <a:ext cx="31115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0400" y="3746500"/>
            <a:ext cx="28956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PO đổi sau khi phát mail</a:t>
            </a:r>
          </a:p>
        </p:txBody>
      </p:sp>
      <p:sp>
        <p:nvSpPr>
          <p:cNvPr id="30" name="Rectangle 29"/>
          <p:cNvSpPr/>
          <p:nvPr/>
        </p:nvSpPr>
        <p:spPr>
          <a:xfrm>
            <a:off x="3632200" y="3644900"/>
            <a:ext cx="39243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84600" y="3746500"/>
            <a:ext cx="37084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Xem dữ liệu hiện tại trên SAP</a:t>
            </a:r>
          </a:p>
        </p:txBody>
      </p:sp>
      <p:sp>
        <p:nvSpPr>
          <p:cNvPr id="32" name="Rectangle 31"/>
          <p:cNvSpPr/>
          <p:nvPr/>
        </p:nvSpPr>
        <p:spPr>
          <a:xfrm>
            <a:off x="7569200" y="3644900"/>
            <a:ext cx="41021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721600" y="3746500"/>
            <a:ext cx="38862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Từ chối token cũ hoặc yêu cầu duyệt lại</a:t>
            </a:r>
          </a:p>
        </p:txBody>
      </p:sp>
      <p:sp>
        <p:nvSpPr>
          <p:cNvPr id="34" name="Rectangle 33"/>
          <p:cNvSpPr/>
          <p:nvPr/>
        </p:nvSpPr>
        <p:spPr>
          <a:xfrm>
            <a:off x="508000" y="4140200"/>
            <a:ext cx="31115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400" y="4241800"/>
            <a:ext cx="28956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Lệch quyền / sai người</a:t>
            </a:r>
          </a:p>
        </p:txBody>
      </p:sp>
      <p:sp>
        <p:nvSpPr>
          <p:cNvPr id="36" name="Rectangle 35"/>
          <p:cNvSpPr/>
          <p:nvPr/>
        </p:nvSpPr>
        <p:spPr>
          <a:xfrm>
            <a:off x="3632200" y="4140200"/>
            <a:ext cx="39243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84600" y="4241800"/>
            <a:ext cx="37084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SAP chặn theo quyền người dùng</a:t>
            </a:r>
          </a:p>
        </p:txBody>
      </p:sp>
      <p:sp>
        <p:nvSpPr>
          <p:cNvPr id="38" name="Rectangle 37"/>
          <p:cNvSpPr/>
          <p:nvPr/>
        </p:nvSpPr>
        <p:spPr>
          <a:xfrm>
            <a:off x="7569200" y="4140200"/>
            <a:ext cx="41021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721600" y="4241800"/>
            <a:ext cx="38862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Không release; lưu lý do và báo lỗi</a:t>
            </a:r>
          </a:p>
        </p:txBody>
      </p:sp>
      <p:sp>
        <p:nvSpPr>
          <p:cNvPr id="40" name="Rectangle 39"/>
          <p:cNvSpPr/>
          <p:nvPr/>
        </p:nvSpPr>
        <p:spPr>
          <a:xfrm>
            <a:off x="508000" y="4635500"/>
            <a:ext cx="31115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0400" y="4737100"/>
            <a:ext cx="28956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Lỗi mạng / timeout</a:t>
            </a:r>
          </a:p>
        </p:txBody>
      </p:sp>
      <p:sp>
        <p:nvSpPr>
          <p:cNvPr id="42" name="Rectangle 41"/>
          <p:cNvSpPr/>
          <p:nvPr/>
        </p:nvSpPr>
        <p:spPr>
          <a:xfrm>
            <a:off x="3632200" y="4635500"/>
            <a:ext cx="39243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84600" y="4737100"/>
            <a:ext cx="37084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Không mặc định đã thành công</a:t>
            </a:r>
          </a:p>
        </p:txBody>
      </p:sp>
      <p:sp>
        <p:nvSpPr>
          <p:cNvPr id="44" name="Rectangle 43"/>
          <p:cNvSpPr/>
          <p:nvPr/>
        </p:nvSpPr>
        <p:spPr>
          <a:xfrm>
            <a:off x="7569200" y="4635500"/>
            <a:ext cx="4102100" cy="482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721600" y="4737100"/>
            <a:ext cx="38862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Đối soát trạng thái trước khi retry</a:t>
            </a:r>
          </a:p>
        </p:txBody>
      </p:sp>
      <p:sp>
        <p:nvSpPr>
          <p:cNvPr id="46" name="Rectangle 45"/>
          <p:cNvSpPr/>
          <p:nvPr/>
        </p:nvSpPr>
        <p:spPr>
          <a:xfrm>
            <a:off x="508000" y="5130800"/>
            <a:ext cx="31115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0400" y="5232400"/>
            <a:ext cx="28956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Base và SAP lệch nhau</a:t>
            </a:r>
          </a:p>
        </p:txBody>
      </p:sp>
      <p:sp>
        <p:nvSpPr>
          <p:cNvPr id="48" name="Rectangle 47"/>
          <p:cNvSpPr/>
          <p:nvPr/>
        </p:nvSpPr>
        <p:spPr>
          <a:xfrm>
            <a:off x="3632200" y="5130800"/>
            <a:ext cx="39243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784600" y="5232400"/>
            <a:ext cx="37084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Cần người xử lý đối chiếu</a:t>
            </a:r>
          </a:p>
        </p:txBody>
      </p:sp>
      <p:sp>
        <p:nvSpPr>
          <p:cNvPr id="50" name="Rectangle 49"/>
          <p:cNvSpPr/>
          <p:nvPr/>
        </p:nvSpPr>
        <p:spPr>
          <a:xfrm>
            <a:off x="7569200" y="5130800"/>
            <a:ext cx="4102100" cy="482600"/>
          </a:xfrm>
          <a:prstGeom prst="rect">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721600" y="5232400"/>
            <a:ext cx="3886200" cy="190500"/>
          </a:xfrm>
          <a:prstGeom prst="rect">
            <a:avLst/>
          </a:prstGeom>
          <a:noFill/>
        </p:spPr>
        <p:txBody>
          <a:bodyPr wrap="none" lIns="0" rIns="0" tIns="0" bIns="0">
            <a:spAutoFit/>
          </a:bodyPr>
          <a:lstStyle/>
          <a:p>
            <a:pPr>
              <a:spcBef>
                <a:spcPts val="0"/>
              </a:spcBef>
              <a:spcAft>
                <a:spcPts val="0"/>
              </a:spcAft>
            </a:pPr>
            <a:r>
              <a:rPr sz="1000" b="0">
                <a:solidFill>
                  <a:srgbClr val="163B40"/>
                </a:solidFill>
                <a:latin typeface="Arial"/>
              </a:rPr>
              <a:t>Cần cơ chế đồng bộ hoặc hàng đợi xử lý</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10 / LỘ TRÌNH</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Hai nhánh thử nghiệm, một bộ tiêu chí nghiệm thu</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Chưa chốt lịch hoặc chi phí khi chưa khảo sát cấu hình SAP và hạ tầng email.</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14</a:t>
            </a:r>
          </a:p>
        </p:txBody>
      </p:sp>
      <p:sp>
        <p:nvSpPr>
          <p:cNvPr id="10" name="Rounded Rectangle 9"/>
          <p:cNvSpPr/>
          <p:nvPr/>
        </p:nvSpPr>
        <p:spPr>
          <a:xfrm>
            <a:off x="5080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985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74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1</a:t>
            </a:r>
          </a:p>
        </p:txBody>
      </p:sp>
      <p:sp>
        <p:nvSpPr>
          <p:cNvPr id="13" name="TextBox 12"/>
          <p:cNvSpPr txBox="1"/>
          <p:nvPr/>
        </p:nvSpPr>
        <p:spPr>
          <a:xfrm>
            <a:off x="6985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Chốt nghiệp vụ</a:t>
            </a:r>
          </a:p>
        </p:txBody>
      </p:sp>
      <p:sp>
        <p:nvSpPr>
          <p:cNvPr id="14" name="TextBox 13"/>
          <p:cNvSpPr txBox="1"/>
          <p:nvPr/>
        </p:nvSpPr>
        <p:spPr>
          <a:xfrm>
            <a:off x="6985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Phạm vi PO, cấp duyệt,</a:t>
            </a:r>
          </a:p>
        </p:txBody>
      </p:sp>
      <p:sp>
        <p:nvSpPr>
          <p:cNvPr id="15" name="TextBox 14"/>
          <p:cNvSpPr txBox="1"/>
          <p:nvPr/>
        </p:nvSpPr>
        <p:spPr>
          <a:xfrm>
            <a:off x="6985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REJECT và trách nhiệm cập</a:t>
            </a:r>
          </a:p>
        </p:txBody>
      </p:sp>
      <p:sp>
        <p:nvSpPr>
          <p:cNvPr id="16" name="TextBox 15"/>
          <p:cNvSpPr txBox="1"/>
          <p:nvPr/>
        </p:nvSpPr>
        <p:spPr>
          <a:xfrm>
            <a:off x="698500" y="42799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nhật Base.</a:t>
            </a:r>
          </a:p>
        </p:txBody>
      </p:sp>
      <p:sp>
        <p:nvSpPr>
          <p:cNvPr id="17" name="TextBox 16"/>
          <p:cNvSpPr txBox="1"/>
          <p:nvPr/>
        </p:nvSpPr>
        <p:spPr>
          <a:xfrm>
            <a:off x="31496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18" name="Rounded Rectangle 17"/>
          <p:cNvSpPr/>
          <p:nvPr/>
        </p:nvSpPr>
        <p:spPr>
          <a:xfrm>
            <a:off x="33655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35560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449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2</a:t>
            </a:r>
          </a:p>
        </p:txBody>
      </p:sp>
      <p:sp>
        <p:nvSpPr>
          <p:cNvPr id="21" name="TextBox 20"/>
          <p:cNvSpPr txBox="1"/>
          <p:nvPr/>
        </p:nvSpPr>
        <p:spPr>
          <a:xfrm>
            <a:off x="35560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Ổn định Python</a:t>
            </a:r>
          </a:p>
        </p:txBody>
      </p:sp>
      <p:sp>
        <p:nvSpPr>
          <p:cNvPr id="22" name="TextBox 21"/>
          <p:cNvSpPr txBox="1"/>
          <p:nvPr/>
        </p:nvSpPr>
        <p:spPr>
          <a:xfrm>
            <a:off x="35560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UAT SAP Windows; kiểm tra</a:t>
            </a:r>
          </a:p>
        </p:txBody>
      </p:sp>
      <p:sp>
        <p:nvSpPr>
          <p:cNvPr id="23" name="TextBox 22"/>
          <p:cNvSpPr txBox="1"/>
          <p:nvPr/>
        </p:nvSpPr>
        <p:spPr>
          <a:xfrm>
            <a:off x="35560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đúng PO, popup, phiên và lỗi</a:t>
            </a:r>
          </a:p>
        </p:txBody>
      </p:sp>
      <p:sp>
        <p:nvSpPr>
          <p:cNvPr id="24" name="TextBox 23"/>
          <p:cNvSpPr txBox="1"/>
          <p:nvPr/>
        </p:nvSpPr>
        <p:spPr>
          <a:xfrm>
            <a:off x="3556000" y="42799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kết nối.</a:t>
            </a:r>
          </a:p>
        </p:txBody>
      </p:sp>
      <p:sp>
        <p:nvSpPr>
          <p:cNvPr id="25" name="TextBox 24"/>
          <p:cNvSpPr txBox="1"/>
          <p:nvPr/>
        </p:nvSpPr>
        <p:spPr>
          <a:xfrm>
            <a:off x="60071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26" name="Rounded Rectangle 25"/>
          <p:cNvSpPr/>
          <p:nvPr/>
        </p:nvSpPr>
        <p:spPr>
          <a:xfrm>
            <a:off x="62230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4135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024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3</a:t>
            </a:r>
          </a:p>
        </p:txBody>
      </p:sp>
      <p:sp>
        <p:nvSpPr>
          <p:cNvPr id="29" name="TextBox 28"/>
          <p:cNvSpPr txBox="1"/>
          <p:nvPr/>
        </p:nvSpPr>
        <p:spPr>
          <a:xfrm>
            <a:off x="64135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PoC Email</a:t>
            </a:r>
          </a:p>
        </p:txBody>
      </p:sp>
      <p:sp>
        <p:nvSpPr>
          <p:cNvPr id="30" name="TextBox 29"/>
          <p:cNvSpPr txBox="1"/>
          <p:nvPr/>
        </p:nvSpPr>
        <p:spPr>
          <a:xfrm>
            <a:off x="64135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Một nhóm duyệt và một</a:t>
            </a:r>
          </a:p>
        </p:txBody>
      </p:sp>
      <p:sp>
        <p:nvSpPr>
          <p:cNvPr id="31" name="TextBox 30"/>
          <p:cNvSpPr txBox="1"/>
          <p:nvPr/>
        </p:nvSpPr>
        <p:spPr>
          <a:xfrm>
            <a:off x="64135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luồng PO; ABAP, mail, token</a:t>
            </a:r>
          </a:p>
        </p:txBody>
      </p:sp>
      <p:sp>
        <p:nvSpPr>
          <p:cNvPr id="32" name="TextBox 31"/>
          <p:cNvSpPr txBox="1"/>
          <p:nvPr/>
        </p:nvSpPr>
        <p:spPr>
          <a:xfrm>
            <a:off x="6413500" y="42799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và audit.</a:t>
            </a:r>
          </a:p>
        </p:txBody>
      </p:sp>
      <p:sp>
        <p:nvSpPr>
          <p:cNvPr id="33" name="TextBox 32"/>
          <p:cNvSpPr txBox="1"/>
          <p:nvPr/>
        </p:nvSpPr>
        <p:spPr>
          <a:xfrm>
            <a:off x="8864600" y="3340100"/>
            <a:ext cx="355600" cy="381000"/>
          </a:xfrm>
          <a:prstGeom prst="rect">
            <a:avLst/>
          </a:prstGeom>
          <a:noFill/>
        </p:spPr>
        <p:txBody>
          <a:bodyPr wrap="none" lIns="0" rIns="0" tIns="0" bIns="0">
            <a:spAutoFit/>
          </a:bodyPr>
          <a:lstStyle/>
          <a:p>
            <a:pPr>
              <a:spcBef>
                <a:spcPts val="0"/>
              </a:spcBef>
              <a:spcAft>
                <a:spcPts val="0"/>
              </a:spcAft>
            </a:pPr>
            <a:r>
              <a:rPr sz="2000" b="1">
                <a:solidFill>
                  <a:srgbClr val="087F78"/>
                </a:solidFill>
                <a:latin typeface="Arial"/>
              </a:rPr>
              <a:t>→</a:t>
            </a:r>
          </a:p>
        </p:txBody>
      </p:sp>
      <p:sp>
        <p:nvSpPr>
          <p:cNvPr id="34" name="Rounded Rectangle 33"/>
          <p:cNvSpPr/>
          <p:nvPr/>
        </p:nvSpPr>
        <p:spPr>
          <a:xfrm>
            <a:off x="9080500" y="2387600"/>
            <a:ext cx="2603500" cy="2324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9271000" y="2590800"/>
            <a:ext cx="381000" cy="342900"/>
          </a:xfrm>
          <a:prstGeom prst="roundRect">
            <a:avLst>
              <a:gd name="adj" fmla="val 8000"/>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359900" y="2641600"/>
            <a:ext cx="381000" cy="228600"/>
          </a:xfrm>
          <a:prstGeom prst="rect">
            <a:avLst/>
          </a:prstGeom>
          <a:noFill/>
        </p:spPr>
        <p:txBody>
          <a:bodyPr wrap="none" lIns="0" rIns="0" tIns="0" bIns="0">
            <a:spAutoFit/>
          </a:bodyPr>
          <a:lstStyle/>
          <a:p>
            <a:pPr>
              <a:spcBef>
                <a:spcPts val="0"/>
              </a:spcBef>
              <a:spcAft>
                <a:spcPts val="0"/>
              </a:spcAft>
            </a:pPr>
            <a:r>
              <a:rPr sz="1200" b="1">
                <a:solidFill>
                  <a:srgbClr val="FFFFFF"/>
                </a:solidFill>
                <a:latin typeface="Arial"/>
              </a:rPr>
              <a:t>4</a:t>
            </a:r>
          </a:p>
        </p:txBody>
      </p:sp>
      <p:sp>
        <p:nvSpPr>
          <p:cNvPr id="37" name="TextBox 36"/>
          <p:cNvSpPr txBox="1"/>
          <p:nvPr/>
        </p:nvSpPr>
        <p:spPr>
          <a:xfrm>
            <a:off x="9271000" y="3124200"/>
            <a:ext cx="2298700" cy="342900"/>
          </a:xfrm>
          <a:prstGeom prst="rect">
            <a:avLst/>
          </a:prstGeom>
          <a:noFill/>
        </p:spPr>
        <p:txBody>
          <a:bodyPr wrap="none" lIns="0" rIns="0" tIns="0" bIns="0">
            <a:spAutoFit/>
          </a:bodyPr>
          <a:lstStyle/>
          <a:p>
            <a:pPr>
              <a:spcBef>
                <a:spcPts val="0"/>
              </a:spcBef>
              <a:spcAft>
                <a:spcPts val="0"/>
              </a:spcAft>
            </a:pPr>
            <a:r>
              <a:rPr sz="1800" b="1">
                <a:solidFill>
                  <a:srgbClr val="073E43"/>
                </a:solidFill>
                <a:latin typeface="Arial"/>
              </a:rPr>
              <a:t>Đo &amp; quyết định</a:t>
            </a:r>
          </a:p>
        </p:txBody>
      </p:sp>
      <p:sp>
        <p:nvSpPr>
          <p:cNvPr id="38" name="TextBox 37"/>
          <p:cNvSpPr txBox="1"/>
          <p:nvPr/>
        </p:nvSpPr>
        <p:spPr>
          <a:xfrm>
            <a:off x="9271000" y="38227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So sánh thời gian, lỗi, tải hỗ</a:t>
            </a:r>
          </a:p>
        </p:txBody>
      </p:sp>
      <p:sp>
        <p:nvSpPr>
          <p:cNvPr id="39" name="TextBox 38"/>
          <p:cNvSpPr txBox="1"/>
          <p:nvPr/>
        </p:nvSpPr>
        <p:spPr>
          <a:xfrm>
            <a:off x="9271000" y="4051300"/>
            <a:ext cx="22987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trợ và khả năng truy vết.</a:t>
            </a:r>
          </a:p>
        </p:txBody>
      </p:sp>
      <p:sp>
        <p:nvSpPr>
          <p:cNvPr id="40" name="Rounded Rectangle 39"/>
          <p:cNvSpPr/>
          <p:nvPr/>
        </p:nvSpPr>
        <p:spPr>
          <a:xfrm>
            <a:off x="508000" y="5816600"/>
            <a:ext cx="11176000" cy="444500"/>
          </a:xfrm>
          <a:prstGeom prst="roundRect">
            <a:avLst>
              <a:gd name="adj" fmla="val 8000"/>
            </a:avLst>
          </a:prstGeom>
          <a:solidFill>
            <a:srgbClr val="DFF2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5918200"/>
            <a:ext cx="10871200" cy="209550"/>
          </a:xfrm>
          <a:prstGeom prst="rect">
            <a:avLst/>
          </a:prstGeom>
          <a:noFill/>
        </p:spPr>
        <p:txBody>
          <a:bodyPr wrap="none" lIns="0" rIns="0" tIns="0" bIns="0">
            <a:spAutoFit/>
          </a:bodyPr>
          <a:lstStyle/>
          <a:p>
            <a:pPr>
              <a:spcBef>
                <a:spcPts val="0"/>
              </a:spcBef>
              <a:spcAft>
                <a:spcPts val="0"/>
              </a:spcAft>
            </a:pPr>
            <a:r>
              <a:rPr sz="1100" b="1">
                <a:solidFill>
                  <a:srgbClr val="087F78"/>
                </a:solidFill>
                <a:latin typeface="Arial"/>
              </a:rPr>
              <a:t>Đội phối hợp: Mua hàng + người duyệt + SAP functional/ABAP/Basis + quản trị mail + IT ứng dụng.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11 / ĐO HIỆU QUẢ</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Đo bằng dữ liệu của Boston Pharma</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Thiết lập baseline trước khi pilot; chưa gán mục tiêu phần trăm khi chưa đo thực tế.</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15</a:t>
            </a:r>
          </a:p>
        </p:txBody>
      </p:sp>
      <p:sp>
        <p:nvSpPr>
          <p:cNvPr id="10" name="Rounded Rectangle 9"/>
          <p:cNvSpPr/>
          <p:nvPr/>
        </p:nvSpPr>
        <p:spPr>
          <a:xfrm>
            <a:off x="508000" y="2209800"/>
            <a:ext cx="5486400"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8000" y="2209800"/>
            <a:ext cx="50800" cy="15875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600" y="2425700"/>
            <a:ext cx="51054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KPI 01</a:t>
            </a:r>
          </a:p>
        </p:txBody>
      </p:sp>
      <p:sp>
        <p:nvSpPr>
          <p:cNvPr id="13" name="TextBox 12"/>
          <p:cNvSpPr txBox="1"/>
          <p:nvPr/>
        </p:nvSpPr>
        <p:spPr>
          <a:xfrm>
            <a:off x="736600" y="27432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Thời gian</a:t>
            </a:r>
          </a:p>
        </p:txBody>
      </p:sp>
      <p:sp>
        <p:nvSpPr>
          <p:cNvPr id="14" name="TextBox 13"/>
          <p:cNvSpPr txBox="1"/>
          <p:nvPr/>
        </p:nvSpPr>
        <p:spPr>
          <a:xfrm>
            <a:off x="736600" y="32512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Từ yêu cầu đến duyệt thành công; tách thời gian chờ và</a:t>
            </a:r>
          </a:p>
        </p:txBody>
      </p:sp>
      <p:sp>
        <p:nvSpPr>
          <p:cNvPr id="15" name="TextBox 14"/>
          <p:cNvSpPr txBox="1"/>
          <p:nvPr/>
        </p:nvSpPr>
        <p:spPr>
          <a:xfrm>
            <a:off x="736600" y="35179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thao tác.</a:t>
            </a:r>
          </a:p>
        </p:txBody>
      </p:sp>
      <p:sp>
        <p:nvSpPr>
          <p:cNvPr id="16" name="Rounded Rectangle 15"/>
          <p:cNvSpPr/>
          <p:nvPr/>
        </p:nvSpPr>
        <p:spPr>
          <a:xfrm>
            <a:off x="6197600" y="2209800"/>
            <a:ext cx="5486400"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7600" y="2209800"/>
            <a:ext cx="50800" cy="15875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26200" y="2425700"/>
            <a:ext cx="51054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KPI 02</a:t>
            </a:r>
          </a:p>
        </p:txBody>
      </p:sp>
      <p:sp>
        <p:nvSpPr>
          <p:cNvPr id="19" name="TextBox 18"/>
          <p:cNvSpPr txBox="1"/>
          <p:nvPr/>
        </p:nvSpPr>
        <p:spPr>
          <a:xfrm>
            <a:off x="6426200" y="27432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Độ chính xác</a:t>
            </a:r>
          </a:p>
        </p:txBody>
      </p:sp>
      <p:sp>
        <p:nvSpPr>
          <p:cNvPr id="20" name="TextBox 19"/>
          <p:cNvSpPr txBox="1"/>
          <p:nvPr/>
        </p:nvSpPr>
        <p:spPr>
          <a:xfrm>
            <a:off x="6426200" y="32512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Số lần sai PO, sai cấp duyệt, trạng thái Base/SAP không</a:t>
            </a:r>
          </a:p>
        </p:txBody>
      </p:sp>
      <p:sp>
        <p:nvSpPr>
          <p:cNvPr id="21" name="TextBox 20"/>
          <p:cNvSpPr txBox="1"/>
          <p:nvPr/>
        </p:nvSpPr>
        <p:spPr>
          <a:xfrm>
            <a:off x="6426200" y="35179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khớp.</a:t>
            </a:r>
          </a:p>
        </p:txBody>
      </p:sp>
      <p:sp>
        <p:nvSpPr>
          <p:cNvPr id="22" name="Rounded Rectangle 21"/>
          <p:cNvSpPr/>
          <p:nvPr/>
        </p:nvSpPr>
        <p:spPr>
          <a:xfrm>
            <a:off x="508000" y="3987800"/>
            <a:ext cx="5486400"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8000" y="3987800"/>
            <a:ext cx="50800" cy="15875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203700"/>
            <a:ext cx="51054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KPI 03</a:t>
            </a:r>
          </a:p>
        </p:txBody>
      </p:sp>
      <p:sp>
        <p:nvSpPr>
          <p:cNvPr id="25" name="TextBox 24"/>
          <p:cNvSpPr txBox="1"/>
          <p:nvPr/>
        </p:nvSpPr>
        <p:spPr>
          <a:xfrm>
            <a:off x="736600" y="45212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Độ ổn định</a:t>
            </a:r>
          </a:p>
        </p:txBody>
      </p:sp>
      <p:sp>
        <p:nvSpPr>
          <p:cNvPr id="26" name="TextBox 25"/>
          <p:cNvSpPr txBox="1"/>
          <p:nvPr/>
        </p:nvSpPr>
        <p:spPr>
          <a:xfrm>
            <a:off x="736600" y="50292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Tỷ lệ thao tác lỗi; retry, thư trùng và yêu cầu cần hỗ trợ.</a:t>
            </a:r>
          </a:p>
        </p:txBody>
      </p:sp>
      <p:sp>
        <p:nvSpPr>
          <p:cNvPr id="27" name="Rounded Rectangle 26"/>
          <p:cNvSpPr/>
          <p:nvPr/>
        </p:nvSpPr>
        <p:spPr>
          <a:xfrm>
            <a:off x="6197600" y="3987800"/>
            <a:ext cx="5486400" cy="15875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97600" y="3987800"/>
            <a:ext cx="50800" cy="15875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6200" y="4203700"/>
            <a:ext cx="51054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KPI 04</a:t>
            </a:r>
          </a:p>
        </p:txBody>
      </p:sp>
      <p:sp>
        <p:nvSpPr>
          <p:cNvPr id="30" name="TextBox 29"/>
          <p:cNvSpPr txBox="1"/>
          <p:nvPr/>
        </p:nvSpPr>
        <p:spPr>
          <a:xfrm>
            <a:off x="6426200" y="4521200"/>
            <a:ext cx="51054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Truy vết</a:t>
            </a:r>
          </a:p>
        </p:txBody>
      </p:sp>
      <p:sp>
        <p:nvSpPr>
          <p:cNvPr id="31" name="TextBox 30"/>
          <p:cNvSpPr txBox="1"/>
          <p:nvPr/>
        </p:nvSpPr>
        <p:spPr>
          <a:xfrm>
            <a:off x="6426200" y="50292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Tỷ lệ quyết định truy được PO, phiên bản, người yêu</a:t>
            </a:r>
          </a:p>
        </p:txBody>
      </p:sp>
      <p:sp>
        <p:nvSpPr>
          <p:cNvPr id="32" name="TextBox 31"/>
          <p:cNvSpPr txBox="1"/>
          <p:nvPr/>
        </p:nvSpPr>
        <p:spPr>
          <a:xfrm>
            <a:off x="6426200" y="5295900"/>
            <a:ext cx="51054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cầu, kết quả.</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073E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DFF2ED"/>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DFF2ED"/>
                </a:solidFill>
                <a:latin typeface="Arial"/>
              </a:rPr>
              <a:t>12 / ĐỀ XUẤT QUYẾT ĐỊNH</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FFFFFF"/>
                </a:solidFill>
                <a:latin typeface="Arial"/>
              </a:rPr>
              <a:t>Giữ đối chiếu sâu. Thử nghiệm duyệt linh hoạt.</a:t>
            </a:r>
          </a:p>
        </p:txBody>
      </p:sp>
      <p:sp>
        <p:nvSpPr>
          <p:cNvPr id="7" name="TextBox 6"/>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DFF2ED"/>
                </a:solidFill>
                <a:latin typeface="Arial"/>
              </a:rPr>
              <a:t>PHÊ DUYỆT PO / SO SÁNH PHƯƠNG ÁN / 27.10.2026</a:t>
            </a:r>
          </a:p>
        </p:txBody>
      </p:sp>
      <p:sp>
        <p:nvSpPr>
          <p:cNvPr id="8" name="TextBox 7"/>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DFF2ED"/>
                </a:solidFill>
                <a:latin typeface="Arial"/>
              </a:rPr>
              <a:t>16</a:t>
            </a:r>
          </a:p>
        </p:txBody>
      </p:sp>
      <p:sp>
        <p:nvSpPr>
          <p:cNvPr id="9" name="TextBox 8"/>
          <p:cNvSpPr txBox="1"/>
          <p:nvPr/>
        </p:nvSpPr>
        <p:spPr>
          <a:xfrm>
            <a:off x="533400" y="2108200"/>
            <a:ext cx="7569200" cy="438150"/>
          </a:xfrm>
          <a:prstGeom prst="rect">
            <a:avLst/>
          </a:prstGeom>
          <a:noFill/>
        </p:spPr>
        <p:txBody>
          <a:bodyPr wrap="none" lIns="0" rIns="0" tIns="0" bIns="0">
            <a:spAutoFit/>
          </a:bodyPr>
          <a:lstStyle/>
          <a:p>
            <a:pPr>
              <a:spcBef>
                <a:spcPts val="0"/>
              </a:spcBef>
              <a:spcAft>
                <a:spcPts val="0"/>
              </a:spcAft>
            </a:pPr>
            <a:r>
              <a:rPr sz="2300" b="1">
                <a:solidFill>
                  <a:srgbClr val="FFFFFF"/>
                </a:solidFill>
                <a:latin typeface="Arial"/>
              </a:rPr>
              <a:t>Python cho người cần xem đầy đủ Base–SAP.</a:t>
            </a:r>
          </a:p>
        </p:txBody>
      </p:sp>
      <p:sp>
        <p:nvSpPr>
          <p:cNvPr id="10" name="TextBox 9"/>
          <p:cNvSpPr txBox="1"/>
          <p:nvPr/>
        </p:nvSpPr>
        <p:spPr>
          <a:xfrm>
            <a:off x="533400" y="2540000"/>
            <a:ext cx="7569200" cy="438150"/>
          </a:xfrm>
          <a:prstGeom prst="rect">
            <a:avLst/>
          </a:prstGeom>
          <a:noFill/>
        </p:spPr>
        <p:txBody>
          <a:bodyPr wrap="none" lIns="0" rIns="0" tIns="0" bIns="0">
            <a:spAutoFit/>
          </a:bodyPr>
          <a:lstStyle/>
          <a:p>
            <a:pPr>
              <a:spcBef>
                <a:spcPts val="0"/>
              </a:spcBef>
              <a:spcAft>
                <a:spcPts val="0"/>
              </a:spcAft>
            </a:pPr>
            <a:r>
              <a:rPr sz="2300" b="1">
                <a:solidFill>
                  <a:srgbClr val="FFFFFF"/>
                </a:solidFill>
                <a:latin typeface="Arial"/>
              </a:rPr>
              <a:t>Email cho người cần phê duyệt từ xa.</a:t>
            </a:r>
          </a:p>
        </p:txBody>
      </p:sp>
      <p:sp>
        <p:nvSpPr>
          <p:cNvPr id="11" name="TextBox 10"/>
          <p:cNvSpPr txBox="1"/>
          <p:nvPr/>
        </p:nvSpPr>
        <p:spPr>
          <a:xfrm>
            <a:off x="533400" y="3505200"/>
            <a:ext cx="3378200" cy="190500"/>
          </a:xfrm>
          <a:prstGeom prst="rect">
            <a:avLst/>
          </a:prstGeom>
          <a:noFill/>
        </p:spPr>
        <p:txBody>
          <a:bodyPr wrap="none" lIns="0" rIns="0" tIns="0" bIns="0">
            <a:spAutoFit/>
          </a:bodyPr>
          <a:lstStyle/>
          <a:p>
            <a:pPr>
              <a:spcBef>
                <a:spcPts val="0"/>
              </a:spcBef>
              <a:spcAft>
                <a:spcPts val="0"/>
              </a:spcAft>
            </a:pPr>
            <a:r>
              <a:rPr sz="1000" b="1">
                <a:solidFill>
                  <a:srgbClr val="DFF2ED"/>
                </a:solidFill>
                <a:latin typeface="Arial"/>
              </a:rPr>
              <a:t>LÀM NGAY</a:t>
            </a:r>
          </a:p>
        </p:txBody>
      </p:sp>
      <p:sp>
        <p:nvSpPr>
          <p:cNvPr id="12" name="TextBox 11"/>
          <p:cNvSpPr txBox="1"/>
          <p:nvPr/>
        </p:nvSpPr>
        <p:spPr>
          <a:xfrm>
            <a:off x="3873500" y="3505200"/>
            <a:ext cx="7569200" cy="285750"/>
          </a:xfrm>
          <a:prstGeom prst="rect">
            <a:avLst/>
          </a:prstGeom>
          <a:noFill/>
        </p:spPr>
        <p:txBody>
          <a:bodyPr wrap="none" lIns="0" rIns="0" tIns="0" bIns="0">
            <a:spAutoFit/>
          </a:bodyPr>
          <a:lstStyle/>
          <a:p>
            <a:pPr>
              <a:spcBef>
                <a:spcPts val="0"/>
              </a:spcBef>
              <a:spcAft>
                <a:spcPts val="0"/>
              </a:spcAft>
            </a:pPr>
            <a:r>
              <a:rPr sz="1500" b="0">
                <a:solidFill>
                  <a:srgbClr val="FFFFFF"/>
                </a:solidFill>
                <a:latin typeface="Arial"/>
              </a:rPr>
              <a:t>Hoàn thiện UAT app Python hiện có.</a:t>
            </a:r>
          </a:p>
        </p:txBody>
      </p:sp>
      <p:sp>
        <p:nvSpPr>
          <p:cNvPr id="13" name="TextBox 12"/>
          <p:cNvSpPr txBox="1"/>
          <p:nvPr/>
        </p:nvSpPr>
        <p:spPr>
          <a:xfrm>
            <a:off x="533400" y="4241800"/>
            <a:ext cx="3378200" cy="190500"/>
          </a:xfrm>
          <a:prstGeom prst="rect">
            <a:avLst/>
          </a:prstGeom>
          <a:noFill/>
        </p:spPr>
        <p:txBody>
          <a:bodyPr wrap="none" lIns="0" rIns="0" tIns="0" bIns="0">
            <a:spAutoFit/>
          </a:bodyPr>
          <a:lstStyle/>
          <a:p>
            <a:pPr>
              <a:spcBef>
                <a:spcPts val="0"/>
              </a:spcBef>
              <a:spcAft>
                <a:spcPts val="0"/>
              </a:spcAft>
            </a:pPr>
            <a:r>
              <a:rPr sz="1000" b="1">
                <a:solidFill>
                  <a:srgbClr val="DFF2ED"/>
                </a:solidFill>
                <a:latin typeface="Arial"/>
              </a:rPr>
              <a:t>THỬ NGHIỆM</a:t>
            </a:r>
          </a:p>
        </p:txBody>
      </p:sp>
      <p:sp>
        <p:nvSpPr>
          <p:cNvPr id="14" name="TextBox 13"/>
          <p:cNvSpPr txBox="1"/>
          <p:nvPr/>
        </p:nvSpPr>
        <p:spPr>
          <a:xfrm>
            <a:off x="3873500" y="4241800"/>
            <a:ext cx="7569200" cy="285750"/>
          </a:xfrm>
          <a:prstGeom prst="rect">
            <a:avLst/>
          </a:prstGeom>
          <a:noFill/>
        </p:spPr>
        <p:txBody>
          <a:bodyPr wrap="none" lIns="0" rIns="0" tIns="0" bIns="0">
            <a:spAutoFit/>
          </a:bodyPr>
          <a:lstStyle/>
          <a:p>
            <a:pPr>
              <a:spcBef>
                <a:spcPts val="0"/>
              </a:spcBef>
              <a:spcAft>
                <a:spcPts val="0"/>
              </a:spcAft>
            </a:pPr>
            <a:r>
              <a:rPr sz="1500" b="0">
                <a:solidFill>
                  <a:srgbClr val="FFFFFF"/>
                </a:solidFill>
                <a:latin typeface="Arial"/>
              </a:rPr>
              <a:t>PoC email trên một phạm vi PO hẹp.</a:t>
            </a:r>
          </a:p>
        </p:txBody>
      </p:sp>
      <p:sp>
        <p:nvSpPr>
          <p:cNvPr id="15" name="TextBox 14"/>
          <p:cNvSpPr txBox="1"/>
          <p:nvPr/>
        </p:nvSpPr>
        <p:spPr>
          <a:xfrm>
            <a:off x="533400" y="4978400"/>
            <a:ext cx="3378200" cy="190500"/>
          </a:xfrm>
          <a:prstGeom prst="rect">
            <a:avLst/>
          </a:prstGeom>
          <a:noFill/>
        </p:spPr>
        <p:txBody>
          <a:bodyPr wrap="none" lIns="0" rIns="0" tIns="0" bIns="0">
            <a:spAutoFit/>
          </a:bodyPr>
          <a:lstStyle/>
          <a:p>
            <a:pPr>
              <a:spcBef>
                <a:spcPts val="0"/>
              </a:spcBef>
              <a:spcAft>
                <a:spcPts val="0"/>
              </a:spcAft>
            </a:pPr>
            <a:r>
              <a:rPr sz="1000" b="1">
                <a:solidFill>
                  <a:srgbClr val="DFF2ED"/>
                </a:solidFill>
                <a:latin typeface="Arial"/>
              </a:rPr>
              <a:t>CHỐT TRƯỚC KHI MỞ RỘNG</a:t>
            </a:r>
          </a:p>
        </p:txBody>
      </p:sp>
      <p:sp>
        <p:nvSpPr>
          <p:cNvPr id="16" name="TextBox 15"/>
          <p:cNvSpPr txBox="1"/>
          <p:nvPr/>
        </p:nvSpPr>
        <p:spPr>
          <a:xfrm>
            <a:off x="3873500" y="4978400"/>
            <a:ext cx="7569200" cy="285750"/>
          </a:xfrm>
          <a:prstGeom prst="rect">
            <a:avLst/>
          </a:prstGeom>
          <a:noFill/>
        </p:spPr>
        <p:txBody>
          <a:bodyPr wrap="none" lIns="0" rIns="0" tIns="0" bIns="0">
            <a:spAutoFit/>
          </a:bodyPr>
          <a:lstStyle/>
          <a:p>
            <a:pPr>
              <a:spcBef>
                <a:spcPts val="0"/>
              </a:spcBef>
              <a:spcAft>
                <a:spcPts val="0"/>
              </a:spcAft>
            </a:pPr>
            <a:r>
              <a:rPr sz="1500" b="0">
                <a:solidFill>
                  <a:srgbClr val="FFFFFF"/>
                </a:solidFill>
                <a:latin typeface="Arial"/>
              </a:rPr>
              <a:t>Ai đồng bộ Base? Ai xử lý ngoại lệ và audit?</a:t>
            </a:r>
          </a:p>
        </p:txBody>
      </p:sp>
      <p:sp>
        <p:nvSpPr>
          <p:cNvPr id="17" name="TextBox 16"/>
          <p:cNvSpPr txBox="1"/>
          <p:nvPr/>
        </p:nvSpPr>
        <p:spPr>
          <a:xfrm>
            <a:off x="533400" y="5905500"/>
            <a:ext cx="10998200" cy="228600"/>
          </a:xfrm>
          <a:prstGeom prst="rect">
            <a:avLst/>
          </a:prstGeom>
          <a:noFill/>
        </p:spPr>
        <p:txBody>
          <a:bodyPr wrap="none" lIns="0" rIns="0" tIns="0" bIns="0">
            <a:spAutoFit/>
          </a:bodyPr>
          <a:lstStyle/>
          <a:p>
            <a:pPr>
              <a:spcBef>
                <a:spcPts val="0"/>
              </a:spcBef>
              <a:spcAft>
                <a:spcPts val="0"/>
              </a:spcAft>
            </a:pPr>
            <a:r>
              <a:rPr sz="1200" b="0">
                <a:solidFill>
                  <a:srgbClr val="DFF2ED"/>
                </a:solidFill>
                <a:latin typeface="Arial"/>
              </a:rPr>
              <a:t>Hai kênh có thể cùng tồn tại khi dùng chung quy tắc quyền và kiểm soát duyệt trùng.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5F9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4300" cy="68580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8000" y="279400"/>
            <a:ext cx="7696200" cy="228600"/>
          </a:xfrm>
          <a:prstGeom prst="rect">
            <a:avLst/>
          </a:prstGeom>
          <a:noFill/>
        </p:spPr>
        <p:txBody>
          <a:bodyPr wrap="none" lIns="0" rIns="0" tIns="0" bIns="0">
            <a:spAutoFit/>
          </a:bodyPr>
          <a:lstStyle/>
          <a:p>
            <a:pPr>
              <a:spcBef>
                <a:spcPts val="0"/>
              </a:spcBef>
              <a:spcAft>
                <a:spcPts val="0"/>
              </a:spcAft>
            </a:pPr>
            <a:r>
              <a:rPr sz="1200" b="1">
                <a:solidFill>
                  <a:srgbClr val="087F78"/>
                </a:solidFill>
                <a:latin typeface="Arial"/>
              </a:rPr>
              <a:t>BOSTON PHARMA</a:t>
            </a:r>
          </a:p>
        </p:txBody>
      </p:sp>
      <p:sp>
        <p:nvSpPr>
          <p:cNvPr id="5" name="TextBox 4"/>
          <p:cNvSpPr txBox="1"/>
          <p:nvPr/>
        </p:nvSpPr>
        <p:spPr>
          <a:xfrm>
            <a:off x="508000" y="685800"/>
            <a:ext cx="11252200" cy="190500"/>
          </a:xfrm>
          <a:prstGeom prst="rect">
            <a:avLst/>
          </a:prstGeom>
          <a:noFill/>
        </p:spPr>
        <p:txBody>
          <a:bodyPr wrap="none" lIns="0" rIns="0" tIns="0" bIns="0">
            <a:spAutoFit/>
          </a:bodyPr>
          <a:lstStyle/>
          <a:p>
            <a:pPr>
              <a:spcBef>
                <a:spcPts val="0"/>
              </a:spcBef>
              <a:spcAft>
                <a:spcPts val="0"/>
              </a:spcAft>
            </a:pPr>
            <a:r>
              <a:rPr sz="1000" b="1">
                <a:solidFill>
                  <a:srgbClr val="587371"/>
                </a:solidFill>
                <a:latin typeface="Arial"/>
              </a:rPr>
              <a:t>NGUỒN &amp; GIẢ ĐỊNH</a:t>
            </a:r>
          </a:p>
        </p:txBody>
      </p:sp>
      <p:sp>
        <p:nvSpPr>
          <p:cNvPr id="6" name="TextBox 5"/>
          <p:cNvSpPr txBox="1"/>
          <p:nvPr/>
        </p:nvSpPr>
        <p:spPr>
          <a:xfrm>
            <a:off x="508000" y="1016000"/>
            <a:ext cx="11252200" cy="571500"/>
          </a:xfrm>
          <a:prstGeom prst="rect">
            <a:avLst/>
          </a:prstGeom>
          <a:noFill/>
        </p:spPr>
        <p:txBody>
          <a:bodyPr wrap="none" lIns="0" rIns="0" tIns="0" bIns="0">
            <a:spAutoFit/>
          </a:bodyPr>
          <a:lstStyle/>
          <a:p>
            <a:pPr>
              <a:spcBef>
                <a:spcPts val="0"/>
              </a:spcBef>
              <a:spcAft>
                <a:spcPts val="0"/>
              </a:spcAft>
            </a:pPr>
            <a:r>
              <a:rPr sz="3000" b="1">
                <a:solidFill>
                  <a:srgbClr val="073E43"/>
                </a:solidFill>
                <a:latin typeface="Arial"/>
              </a:rPr>
              <a:t>Cơ sở của bản so sánh</a:t>
            </a:r>
          </a:p>
        </p:txBody>
      </p:sp>
      <p:sp>
        <p:nvSpPr>
          <p:cNvPr id="7" name="TextBox 6"/>
          <p:cNvSpPr txBox="1"/>
          <p:nvPr/>
        </p:nvSpPr>
        <p:spPr>
          <a:xfrm>
            <a:off x="508000" y="1651000"/>
            <a:ext cx="11252200" cy="228600"/>
          </a:xfrm>
          <a:prstGeom prst="rect">
            <a:avLst/>
          </a:prstGeom>
          <a:noFill/>
        </p:spPr>
        <p:txBody>
          <a:bodyPr wrap="none" lIns="0" rIns="0" tIns="0" bIns="0">
            <a:spAutoFit/>
          </a:bodyPr>
          <a:lstStyle/>
          <a:p>
            <a:pPr>
              <a:spcBef>
                <a:spcPts val="0"/>
              </a:spcBef>
              <a:spcAft>
                <a:spcPts val="0"/>
              </a:spcAft>
            </a:pPr>
            <a:r>
              <a:rPr sz="1200" b="0">
                <a:solidFill>
                  <a:srgbClr val="587371"/>
                </a:solidFill>
                <a:latin typeface="Arial"/>
              </a:rPr>
              <a:t>Thông tin được rà soát ngày 27.10.2026. Không bao gồm dữ liệu PO, token hoặc thông tin đăng nhập.</a:t>
            </a:r>
          </a:p>
        </p:txBody>
      </p:sp>
      <p:sp>
        <p:nvSpPr>
          <p:cNvPr id="8" name="TextBox 7"/>
          <p:cNvSpPr txBox="1"/>
          <p:nvPr/>
        </p:nvSpPr>
        <p:spPr>
          <a:xfrm>
            <a:off x="508000" y="6477000"/>
            <a:ext cx="10363200" cy="152400"/>
          </a:xfrm>
          <a:prstGeom prst="rect">
            <a:avLst/>
          </a:prstGeom>
          <a:noFill/>
        </p:spPr>
        <p:txBody>
          <a:bodyPr wrap="none" lIns="0" rIns="0" tIns="0" bIns="0">
            <a:spAutoFit/>
          </a:bodyPr>
          <a:lstStyle/>
          <a:p>
            <a:pPr>
              <a:spcBef>
                <a:spcPts val="0"/>
              </a:spcBef>
              <a:spcAft>
                <a:spcPts val="0"/>
              </a:spcAft>
            </a:pPr>
            <a:r>
              <a:rPr sz="800" b="0">
                <a:solidFill>
                  <a:srgbClr val="587371"/>
                </a:solidFill>
                <a:latin typeface="Arial"/>
              </a:rPr>
              <a:t>PHÊ DUYỆT PO / SO SÁNH PHƯƠNG ÁN / 27.10.2026</a:t>
            </a:r>
          </a:p>
        </p:txBody>
      </p:sp>
      <p:sp>
        <p:nvSpPr>
          <p:cNvPr id="9" name="TextBox 8"/>
          <p:cNvSpPr txBox="1"/>
          <p:nvPr/>
        </p:nvSpPr>
        <p:spPr>
          <a:xfrm>
            <a:off x="11430000" y="6477000"/>
            <a:ext cx="584200" cy="171450"/>
          </a:xfrm>
          <a:prstGeom prst="rect">
            <a:avLst/>
          </a:prstGeom>
          <a:noFill/>
        </p:spPr>
        <p:txBody>
          <a:bodyPr wrap="none" lIns="0" rIns="0" tIns="0" bIns="0">
            <a:spAutoFit/>
          </a:bodyPr>
          <a:lstStyle/>
          <a:p>
            <a:pPr>
              <a:spcBef>
                <a:spcPts val="0"/>
              </a:spcBef>
              <a:spcAft>
                <a:spcPts val="0"/>
              </a:spcAft>
            </a:pPr>
            <a:r>
              <a:rPr sz="900" b="1">
                <a:solidFill>
                  <a:srgbClr val="087F78"/>
                </a:solidFill>
                <a:latin typeface="Arial"/>
              </a:rPr>
              <a:t>17</a:t>
            </a:r>
          </a:p>
        </p:txBody>
      </p:sp>
      <p:sp>
        <p:nvSpPr>
          <p:cNvPr id="10" name="Rounded Rectangle 9"/>
          <p:cNvSpPr/>
          <p:nvPr/>
        </p:nvSpPr>
        <p:spPr>
          <a:xfrm>
            <a:off x="508000" y="2247900"/>
            <a:ext cx="11176000" cy="1435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8000" y="2247900"/>
            <a:ext cx="50800" cy="14351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6600" y="2463800"/>
            <a:ext cx="107950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NGUỒN 01 / APP PYTHON</a:t>
            </a:r>
          </a:p>
        </p:txBody>
      </p:sp>
      <p:sp>
        <p:nvSpPr>
          <p:cNvPr id="13" name="TextBox 12"/>
          <p:cNvSpPr txBox="1"/>
          <p:nvPr/>
        </p:nvSpPr>
        <p:spPr>
          <a:xfrm>
            <a:off x="736600" y="2781300"/>
            <a:ext cx="107950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Repository đã phát triển</a:t>
            </a:r>
          </a:p>
        </p:txBody>
      </p:sp>
      <p:sp>
        <p:nvSpPr>
          <p:cNvPr id="14" name="TextBox 13"/>
          <p:cNvSpPr txBox="1"/>
          <p:nvPr/>
        </p:nvSpPr>
        <p:spPr>
          <a:xfrm>
            <a:off x="736600" y="3289300"/>
            <a:ext cx="107950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ductranhuylund/MacquarieExcelTimeSeriesModelsforBusinessForecasting</a:t>
            </a:r>
          </a:p>
        </p:txBody>
      </p:sp>
      <p:sp>
        <p:nvSpPr>
          <p:cNvPr id="15" name="TextBox 14"/>
          <p:cNvSpPr txBox="1"/>
          <p:nvPr/>
        </p:nvSpPr>
        <p:spPr>
          <a:xfrm>
            <a:off x="736600" y="3556000"/>
            <a:ext cx="107950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base-sap-workspace/ • mã nguồn và README • commit 705933d</a:t>
            </a:r>
          </a:p>
        </p:txBody>
      </p:sp>
      <p:sp>
        <p:nvSpPr>
          <p:cNvPr id="16" name="Rounded Rectangle 15"/>
          <p:cNvSpPr/>
          <p:nvPr/>
        </p:nvSpPr>
        <p:spPr>
          <a:xfrm>
            <a:off x="508000" y="3886200"/>
            <a:ext cx="11176000" cy="14351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8000" y="3886200"/>
            <a:ext cx="50800" cy="1435100"/>
          </a:xfrm>
          <a:prstGeom prst="rect">
            <a:avLst/>
          </a:prstGeom>
          <a:solidFill>
            <a:srgbClr val="08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4102100"/>
            <a:ext cx="10795000" cy="190500"/>
          </a:xfrm>
          <a:prstGeom prst="rect">
            <a:avLst/>
          </a:prstGeom>
          <a:noFill/>
        </p:spPr>
        <p:txBody>
          <a:bodyPr wrap="none" lIns="0" rIns="0" tIns="0" bIns="0">
            <a:spAutoFit/>
          </a:bodyPr>
          <a:lstStyle/>
          <a:p>
            <a:pPr>
              <a:spcBef>
                <a:spcPts val="0"/>
              </a:spcBef>
              <a:spcAft>
                <a:spcPts val="0"/>
              </a:spcAft>
            </a:pPr>
            <a:r>
              <a:rPr sz="1000" b="1">
                <a:solidFill>
                  <a:srgbClr val="087F78"/>
                </a:solidFill>
                <a:latin typeface="Arial"/>
              </a:rPr>
              <a:t>NGUỒN 02 / THIẾT KẾ EMAIL</a:t>
            </a:r>
          </a:p>
        </p:txBody>
      </p:sp>
      <p:sp>
        <p:nvSpPr>
          <p:cNvPr id="19" name="TextBox 18"/>
          <p:cNvSpPr txBox="1"/>
          <p:nvPr/>
        </p:nvSpPr>
        <p:spPr>
          <a:xfrm>
            <a:off x="736600" y="4419600"/>
            <a:ext cx="10795000" cy="400050"/>
          </a:xfrm>
          <a:prstGeom prst="rect">
            <a:avLst/>
          </a:prstGeom>
          <a:noFill/>
        </p:spPr>
        <p:txBody>
          <a:bodyPr wrap="none" lIns="0" rIns="0" tIns="0" bIns="0">
            <a:spAutoFit/>
          </a:bodyPr>
          <a:lstStyle/>
          <a:p>
            <a:pPr>
              <a:spcBef>
                <a:spcPts val="0"/>
              </a:spcBef>
              <a:spcAft>
                <a:spcPts val="0"/>
              </a:spcAft>
            </a:pPr>
            <a:r>
              <a:rPr sz="2100" b="1">
                <a:solidFill>
                  <a:srgbClr val="073E43"/>
                </a:solidFill>
                <a:latin typeface="Arial"/>
              </a:rPr>
              <a:t>Tài liệu người dùng cung cấp</a:t>
            </a:r>
          </a:p>
        </p:txBody>
      </p:sp>
      <p:sp>
        <p:nvSpPr>
          <p:cNvPr id="20" name="TextBox 19"/>
          <p:cNvSpPr txBox="1"/>
          <p:nvPr/>
        </p:nvSpPr>
        <p:spPr>
          <a:xfrm>
            <a:off x="736600" y="4927600"/>
            <a:ext cx="107950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“MÔ TẢ LUỒNG VẬN HÀNH (FLOW) CƠ CHẾ REPLY EMAIL.docx”</a:t>
            </a:r>
          </a:p>
        </p:txBody>
      </p:sp>
      <p:sp>
        <p:nvSpPr>
          <p:cNvPr id="21" name="TextBox 20"/>
          <p:cNvSpPr txBox="1"/>
          <p:nvPr/>
        </p:nvSpPr>
        <p:spPr>
          <a:xfrm>
            <a:off x="736600" y="5194300"/>
            <a:ext cx="10795000" cy="266700"/>
          </a:xfrm>
          <a:prstGeom prst="rect">
            <a:avLst/>
          </a:prstGeom>
          <a:noFill/>
        </p:spPr>
        <p:txBody>
          <a:bodyPr wrap="none" lIns="0" rIns="0" tIns="0" bIns="0">
            <a:spAutoFit/>
          </a:bodyPr>
          <a:lstStyle/>
          <a:p>
            <a:pPr>
              <a:spcBef>
                <a:spcPts val="0"/>
              </a:spcBef>
              <a:spcAft>
                <a:spcPts val="0"/>
              </a:spcAft>
            </a:pPr>
            <a:r>
              <a:rPr sz="1400" b="0">
                <a:solidFill>
                  <a:srgbClr val="587371"/>
                </a:solidFill>
                <a:latin typeface="Arial"/>
              </a:rPr>
              <a:t>Luồng 5 bước; APPROVE / REJECT; Ref Token; xử lý yêu cầu trùng.</a:t>
            </a:r>
          </a:p>
        </p:txBody>
      </p:sp>
      <p:sp>
        <p:nvSpPr>
          <p:cNvPr id="22" name="TextBox 21"/>
          <p:cNvSpPr txBox="1"/>
          <p:nvPr/>
        </p:nvSpPr>
        <p:spPr>
          <a:xfrm>
            <a:off x="533400" y="5638800"/>
            <a:ext cx="11125200" cy="209550"/>
          </a:xfrm>
          <a:prstGeom prst="rect">
            <a:avLst/>
          </a:prstGeom>
          <a:noFill/>
        </p:spPr>
        <p:txBody>
          <a:bodyPr wrap="none" lIns="0" rIns="0" tIns="0" bIns="0">
            <a:spAutoFit/>
          </a:bodyPr>
          <a:lstStyle/>
          <a:p>
            <a:pPr>
              <a:spcBef>
                <a:spcPts val="0"/>
              </a:spcBef>
              <a:spcAft>
                <a:spcPts val="0"/>
              </a:spcAft>
            </a:pPr>
            <a:r>
              <a:rPr sz="1100" b="0">
                <a:solidFill>
                  <a:srgbClr val="587371"/>
                </a:solidFill>
                <a:latin typeface="Arial"/>
              </a:rPr>
              <a:t>Màu xanh ngọc theo ảnh nhận diện đã cung cấp; không thay thế brand guideline chính thức.</a:t>
            </a:r>
          </a:p>
        </p:txBody>
      </p:sp>
      <p:sp>
        <p:nvSpPr>
          <p:cNvPr id="23" name="TextBox 22"/>
          <p:cNvSpPr txBox="1"/>
          <p:nvPr/>
        </p:nvSpPr>
        <p:spPr>
          <a:xfrm>
            <a:off x="533400" y="5867400"/>
            <a:ext cx="11125200" cy="209550"/>
          </a:xfrm>
          <a:prstGeom prst="rect">
            <a:avLst/>
          </a:prstGeom>
          <a:noFill/>
        </p:spPr>
        <p:txBody>
          <a:bodyPr wrap="none" lIns="0" rIns="0" tIns="0" bIns="0">
            <a:spAutoFit/>
          </a:bodyPr>
          <a:lstStyle/>
          <a:p>
            <a:pPr>
              <a:spcBef>
                <a:spcPts val="0"/>
              </a:spcBef>
              <a:spcAft>
                <a:spcPts val="0"/>
              </a:spcAft>
            </a:pPr>
            <a:r>
              <a:rPr sz="1100" b="0">
                <a:solidFill>
                  <a:srgbClr val="587371"/>
                </a:solidFill>
                <a:latin typeface="Arial"/>
              </a:rPr>
              <a:t>Các đề xuất kiểm soát, UAT và lộ trình trong deck chưa phải tính năng email đã triển khai.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Boston Pharma | Python Workspace và Reply Email</dc:title>
  <dc:subject>So sánh hai phương án phê duyệt PO</dc:subject>
  <dc:creator>Boston Pharma</dc:creator>
  <cp:keywords>PO, Base, SAP, ME29N, Python, Reply Email</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